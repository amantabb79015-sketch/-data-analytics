
<file path=[Content_Types].xml><?xml version="1.0" encoding="utf-8"?>
<Types xmlns="http://schemas.openxmlformats.org/package/2006/content-types">
  <Default Extension="jfif"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19"/>
  </p:notesMasterIdLst>
  <p:handoutMasterIdLst>
    <p:handoutMasterId r:id="rId20"/>
  </p:handoutMasterIdLst>
  <p:sldIdLst>
    <p:sldId id="338" r:id="rId5"/>
    <p:sldId id="327" r:id="rId6"/>
    <p:sldId id="315" r:id="rId7"/>
    <p:sldId id="329" r:id="rId8"/>
    <p:sldId id="302" r:id="rId9"/>
    <p:sldId id="339" r:id="rId10"/>
    <p:sldId id="340" r:id="rId11"/>
    <p:sldId id="344" r:id="rId12"/>
    <p:sldId id="345" r:id="rId13"/>
    <p:sldId id="346" r:id="rId14"/>
    <p:sldId id="341" r:id="rId15"/>
    <p:sldId id="342" r:id="rId16"/>
    <p:sldId id="343" r:id="rId17"/>
    <p:sldId id="304"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419AE38-882F-1515-E21D-2DA2765CE3A3}" v="2" dt="2026-09-02T10:33:37.143"/>
    <p1510:client id="{BA573E70-4CE7-E3DA-403D-1D1B358A6CED}" v="45" dt="2026-09-02T10:11:53.372"/>
  </p1510:revLst>
</p1510:revInfo>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85" autoAdjust="0"/>
    <p:restoredTop sz="95033" autoAdjust="0"/>
  </p:normalViewPr>
  <p:slideViewPr>
    <p:cSldViewPr snapToGrid="0">
      <p:cViewPr>
        <p:scale>
          <a:sx n="89" d="100"/>
          <a:sy n="89" d="100"/>
        </p:scale>
        <p:origin x="273" y="60"/>
      </p:cViewPr>
      <p:guideLst>
        <p:guide orient="horz" pos="1968"/>
        <p:guide pos="408"/>
        <p:guide orient="horz" pos="3912"/>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9/10/2026</a:t>
            </a:fld>
            <a:endParaRPr lang="en-US" dirty="0"/>
          </a:p>
        </p:txBody>
      </p:sp>
      <p:sp>
        <p:nvSpPr>
          <p:cNvPr id="4" name="Footer Placeholder 3">
            <a:extLst>
              <a:ext uri="{FF2B5EF4-FFF2-40B4-BE49-F238E27FC236}">
                <a16:creationId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9/10/2026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9/10/2026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9/10/2026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9/10/2026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a16="http://schemas.microsoft.com/office/drawing/2014/main"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a16="http://schemas.microsoft.com/office/drawing/2014/main"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a16="http://schemas.microsoft.com/office/drawing/2014/main"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a16="http://schemas.microsoft.com/office/drawing/2014/main"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a16="http://schemas.microsoft.com/office/drawing/2014/main"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a16="http://schemas.microsoft.com/office/drawing/2014/main"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a16="http://schemas.microsoft.com/office/drawing/2014/main"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a16="http://schemas.microsoft.com/office/drawing/2014/main"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a16="http://schemas.microsoft.com/office/drawing/2014/main"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a16="http://schemas.microsoft.com/office/drawing/2014/main"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a16="http://schemas.microsoft.com/office/drawing/2014/main"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a16="http://schemas.microsoft.com/office/drawing/2014/main"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a16="http://schemas.microsoft.com/office/drawing/2014/main"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a16="http://schemas.microsoft.com/office/drawing/2014/main"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a16="http://schemas.microsoft.com/office/drawing/2014/main"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a16="http://schemas.microsoft.com/office/drawing/2014/main"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a16="http://schemas.microsoft.com/office/drawing/2014/main"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a16="http://schemas.microsoft.com/office/drawing/2014/main"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a16="http://schemas.microsoft.com/office/drawing/2014/main"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a16="http://schemas.microsoft.com/office/drawing/2014/main"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a16="http://schemas.microsoft.com/office/drawing/2014/main"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a16="http://schemas.microsoft.com/office/drawing/2014/main"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a16="http://schemas.microsoft.com/office/drawing/2014/main"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a16="http://schemas.microsoft.com/office/drawing/2014/main"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a16="http://schemas.microsoft.com/office/drawing/2014/main"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a16="http://schemas.microsoft.com/office/drawing/2014/main"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a16="http://schemas.microsoft.com/office/drawing/2014/main"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a16="http://schemas.microsoft.com/office/drawing/2014/main"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a16="http://schemas.microsoft.com/office/drawing/2014/main"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a16="http://schemas.microsoft.com/office/drawing/2014/main"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a16="http://schemas.microsoft.com/office/drawing/2014/main"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a16="http://schemas.microsoft.com/office/drawing/2014/main"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a16="http://schemas.microsoft.com/office/drawing/2014/main"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a16="http://schemas.microsoft.com/office/drawing/2014/main" id="{2CD6B789-4B66-4BD0-9623-80E9542A65FE}"/>
              </a:ext>
            </a:extLst>
          </p:cNvPr>
          <p:cNvSpPr txBox="1">
            <a:spLocks/>
          </p:cNvSpPr>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9/10/2026</a:t>
            </a:fld>
            <a:endParaRPr lang="en-US" sz="1100" dirty="0">
              <a:solidFill>
                <a:schemeClr val="accent2"/>
              </a:solidFill>
            </a:endParaRPr>
          </a:p>
        </p:txBody>
      </p:sp>
      <p:sp>
        <p:nvSpPr>
          <p:cNvPr id="29" name="Footer Placeholder 4">
            <a:extLst>
              <a:ext uri="{FF2B5EF4-FFF2-40B4-BE49-F238E27FC236}">
                <a16:creationId xmlns:a16="http://schemas.microsoft.com/office/drawing/2014/main" id="{A3BB5234-44A4-4506-BD19-5808475EBB7F}"/>
              </a:ext>
            </a:extLst>
          </p:cNvPr>
          <p:cNvSpPr txBox="1">
            <a:spLocks/>
          </p:cNvSpPr>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a16="http://schemas.microsoft.com/office/drawing/2014/main" id="{68D89618-7EE9-46BF-BEAC-45E6F98ACA1A}"/>
              </a:ext>
            </a:extLst>
          </p:cNvPr>
          <p:cNvSpPr txBox="1">
            <a:spLocks/>
          </p:cNvSpPr>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image" Target="../media/image1.jfif"/><Relationship Id="rId2" Type="http://schemas.openxmlformats.org/officeDocument/2006/relationships/image" Target="../media/image2.png"/><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8.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fif"/><Relationship Id="rId1" Type="http://schemas.openxmlformats.org/officeDocument/2006/relationships/slideLayout" Target="../slideLayouts/slideLayout19.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15.png"/></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jfif"/><Relationship Id="rId1" Type="http://schemas.openxmlformats.org/officeDocument/2006/relationships/slideLayout" Target="../slideLayouts/slideLayout19.xml"/><Relationship Id="rId5" Type="http://schemas.openxmlformats.org/officeDocument/2006/relationships/image" Target="../media/image18.png"/><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amantabb79015-sketch/-data-analytics" TargetMode="External"/><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3.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4.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201737A-B873-4D1D-8A41-5ABF5184BC8F}"/>
              </a:ext>
            </a:extLst>
          </p:cNvPr>
          <p:cNvSpPr>
            <a:spLocks noGrp="1"/>
          </p:cNvSpPr>
          <p:nvPr>
            <p:ph type="body" sz="quarter" idx="11"/>
          </p:nvPr>
        </p:nvSpPr>
        <p:spPr>
          <a:xfrm>
            <a:off x="957404" y="3470736"/>
            <a:ext cx="3507019" cy="875777"/>
          </a:xfrm>
        </p:spPr>
        <p:txBody>
          <a:bodyPr vert="horz" lIns="91440" tIns="45720" rIns="91440" bIns="45720" rtlCol="0" anchor="t">
            <a:normAutofit/>
          </a:bodyPr>
          <a:lstStyle/>
          <a:p>
            <a:pPr algn="r"/>
            <a:r>
              <a:rPr lang="en-US" dirty="0">
                <a:solidFill>
                  <a:schemeClr val="tx1"/>
                </a:solidFill>
              </a:rPr>
              <a:t>Mohammed Sulaiman Adnan</a:t>
            </a:r>
            <a:endParaRPr lang="en-IN" dirty="0">
              <a:solidFill>
                <a:schemeClr val="tx1"/>
              </a:solidFill>
            </a:endParaRPr>
          </a:p>
          <a:p>
            <a:pPr algn="r"/>
            <a:endParaRPr lang="en-IN" b="0" dirty="0">
              <a:solidFill>
                <a:schemeClr val="tx1"/>
              </a:solidFill>
            </a:endParaRPr>
          </a:p>
        </p:txBody>
      </p:sp>
      <p:sp>
        <p:nvSpPr>
          <p:cNvPr id="4" name="Title 3">
            <a:extLst>
              <a:ext uri="{FF2B5EF4-FFF2-40B4-BE49-F238E27FC236}">
                <a16:creationId xmlns:a16="http://schemas.microsoft.com/office/drawing/2014/main" id="{92056599-CDAA-4367-BEF8-31D6E32518C8}"/>
              </a:ext>
            </a:extLst>
          </p:cNvPr>
          <p:cNvSpPr>
            <a:spLocks noGrp="1"/>
          </p:cNvSpPr>
          <p:nvPr>
            <p:ph type="title"/>
          </p:nvPr>
        </p:nvSpPr>
        <p:spPr>
          <a:xfrm>
            <a:off x="957405" y="2754330"/>
            <a:ext cx="8246979" cy="402938"/>
          </a:xfrm>
        </p:spPr>
        <p:txBody>
          <a:bodyPr>
            <a:normAutofit fontScale="90000"/>
          </a:bodyPr>
          <a:lstStyle/>
          <a:p>
            <a:r>
              <a:rPr lang="en-GB" sz="2200" dirty="0">
                <a:ln w="0"/>
                <a:effectLst>
                  <a:outerShdw blurRad="38100" dist="19050" dir="2700000" algn="tl" rotWithShape="0">
                    <a:schemeClr val="dk1">
                      <a:alpha val="40000"/>
                    </a:schemeClr>
                  </a:outerShdw>
                </a:effectLst>
              </a:rPr>
              <a:t>Seasonal</a:t>
            </a:r>
            <a:r>
              <a:rPr lang="en-GB" sz="2200" dirty="0"/>
              <a:t> Agriculture Performance Analysis</a:t>
            </a:r>
            <a:endParaRPr lang="en-IN" sz="3200" dirty="0"/>
          </a:p>
        </p:txBody>
      </p:sp>
      <p:sp>
        <p:nvSpPr>
          <p:cNvPr id="15" name="Text Placeholder 1">
            <a:extLst>
              <a:ext uri="{FF2B5EF4-FFF2-40B4-BE49-F238E27FC236}">
                <a16:creationId xmlns:a16="http://schemas.microsoft.com/office/drawing/2014/main" id="{824B8A32-9AB3-457E-82E1-C85D3203CE35}"/>
              </a:ext>
            </a:extLst>
          </p:cNvPr>
          <p:cNvSpPr txBox="1">
            <a:spLocks/>
          </p:cNvSpPr>
          <p:nvPr/>
        </p:nvSpPr>
        <p:spPr>
          <a:xfrm>
            <a:off x="6400800" y="2794001"/>
            <a:ext cx="3312160" cy="861497"/>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400" dirty="0"/>
          </a:p>
        </p:txBody>
      </p:sp>
      <p:pic>
        <p:nvPicPr>
          <p:cNvPr id="6" name="Picture 5">
            <a:extLst>
              <a:ext uri="{FF2B5EF4-FFF2-40B4-BE49-F238E27FC236}">
                <a16:creationId xmlns:a16="http://schemas.microsoft.com/office/drawing/2014/main"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3" name="TextBox 2">
            <a:extLst>
              <a:ext uri="{FF2B5EF4-FFF2-40B4-BE49-F238E27FC236}">
                <a16:creationId xmlns:a16="http://schemas.microsoft.com/office/drawing/2014/main" id="{17F04107-8754-E47D-3375-529E689711FA}"/>
              </a:ext>
            </a:extLst>
          </p:cNvPr>
          <p:cNvSpPr txBox="1"/>
          <p:nvPr/>
        </p:nvSpPr>
        <p:spPr>
          <a:xfrm>
            <a:off x="957406" y="4576469"/>
            <a:ext cx="5138594" cy="369332"/>
          </a:xfrm>
          <a:prstGeom prst="rect">
            <a:avLst/>
          </a:prstGeom>
          <a:noFill/>
        </p:spPr>
        <p:txBody>
          <a:bodyPr wrap="square" rtlCol="0">
            <a:spAutoFit/>
          </a:bodyPr>
          <a:lstStyle/>
          <a:p>
            <a:r>
              <a:rPr lang="en-US" b="1" dirty="0"/>
              <a:t>AICTE STU ID : STU6a6cb9f16ef7e1785510385</a:t>
            </a:r>
          </a:p>
        </p:txBody>
      </p:sp>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nodePh="1">
                                  <p:stCondLst>
                                    <p:cond delay="0"/>
                                  </p:stCondLst>
                                  <p:endCondLst>
                                    <p:cond evt="begin" delay="0">
                                      <p:tn val="23"/>
                                    </p:cond>
                                  </p:endCondLst>
                                  <p:childTnLst>
                                    <p:set>
                                      <p:cBhvr>
                                        <p:cTn id="24" dur="1" fill="hold">
                                          <p:stCondLst>
                                            <p:cond delay="0"/>
                                          </p:stCondLst>
                                        </p:cTn>
                                        <p:tgtEl>
                                          <p:spTgt spid="15"/>
                                        </p:tgtEl>
                                        <p:attrNameLst>
                                          <p:attrName>style.visibility</p:attrName>
                                        </p:attrNameLst>
                                      </p:cBhvr>
                                      <p:to>
                                        <p:strVal val="visible"/>
                                      </p:to>
                                    </p:set>
                                    <p:anim calcmode="lin" valueType="num">
                                      <p:cBhvr>
                                        <p:cTn id="25" dur="500" fill="hold"/>
                                        <p:tgtEl>
                                          <p:spTgt spid="15"/>
                                        </p:tgtEl>
                                        <p:attrNameLst>
                                          <p:attrName>ppt_w</p:attrName>
                                        </p:attrNameLst>
                                      </p:cBhvr>
                                      <p:tavLst>
                                        <p:tav tm="0">
                                          <p:val>
                                            <p:fltVal val="0"/>
                                          </p:val>
                                        </p:tav>
                                        <p:tav tm="100000">
                                          <p:val>
                                            <p:strVal val="#ppt_w"/>
                                          </p:val>
                                        </p:tav>
                                      </p:tavLst>
                                    </p:anim>
                                    <p:anim calcmode="lin" valueType="num">
                                      <p:cBhvr>
                                        <p:cTn id="26" dur="500" fill="hold"/>
                                        <p:tgtEl>
                                          <p:spTgt spid="15"/>
                                        </p:tgtEl>
                                        <p:attrNameLst>
                                          <p:attrName>ppt_h</p:attrName>
                                        </p:attrNameLst>
                                      </p:cBhvr>
                                      <p:tavLst>
                                        <p:tav tm="0">
                                          <p:val>
                                            <p:fltVal val="0"/>
                                          </p:val>
                                        </p:tav>
                                        <p:tav tm="100000">
                                          <p:val>
                                            <p:strVal val="#ppt_h"/>
                                          </p:val>
                                        </p:tav>
                                      </p:tavLst>
                                    </p:anim>
                                    <p:animEffect transition="in" filter="fade">
                                      <p:cBhvr>
                                        <p:cTn id="27" dur="50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grpId="0" nodeType="clickEffect">
                                  <p:stCondLst>
                                    <p:cond delay="0"/>
                                  </p:stCondLst>
                                  <p:childTnLst>
                                    <p:set>
                                      <p:cBhvr>
                                        <p:cTn id="3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32" dur="500"/>
                                        <p:tgtEl>
                                          <p:spTgt spid="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46E4DD1-270B-4C80-AFF0-EB26F132AF36}"/>
              </a:ext>
            </a:extLst>
          </p:cNvPr>
          <p:cNvSpPr>
            <a:spLocks noGrp="1"/>
          </p:cNvSpPr>
          <p:nvPr>
            <p:ph type="body" sz="quarter" idx="12"/>
          </p:nvPr>
        </p:nvSpPr>
        <p:spPr>
          <a:xfrm>
            <a:off x="0" y="1690777"/>
            <a:ext cx="7683452" cy="3344192"/>
          </a:xfrm>
        </p:spPr>
        <p:txBody>
          <a:bodyPr vert="horz" lIns="91440" tIns="45720" rIns="91440" bIns="45720" rtlCol="0" anchor="t">
            <a:normAutofit fontScale="77500" lnSpcReduction="20000"/>
          </a:bodyPr>
          <a:lstStyle/>
          <a:p>
            <a:pPr>
              <a:lnSpc>
                <a:spcPct val="100000"/>
              </a:lnSpc>
            </a:pPr>
            <a:r>
              <a:rPr lang="en-IN" sz="2800" dirty="0"/>
              <a:t>(</a:t>
            </a:r>
            <a:r>
              <a:rPr lang="en-US" sz="2800" dirty="0"/>
              <a:t>Agricultural activities are influenced by seasonal variations in environmental conditions, farming practices, resource availability and market conditions. As a result, agricultural performance may differ from one season to another. However, raw agricultural data does not clearly explain how agricultural performance changes across seasons or what patterns can be observed in different seasonal conditions. The problem is to analyze the given agricultural dataset and investigate seasonal differences in agricultural performance by identifying meaningful patterns, trends, relationships and variations within the available data.</a:t>
            </a:r>
            <a:endParaRPr lang="en-IN" sz="2800" dirty="0"/>
          </a:p>
        </p:txBody>
      </p:sp>
      <p:sp>
        <p:nvSpPr>
          <p:cNvPr id="4" name="Title 3">
            <a:extLst>
              <a:ext uri="{FF2B5EF4-FFF2-40B4-BE49-F238E27FC236}">
                <a16:creationId xmlns:a16="http://schemas.microsoft.com/office/drawing/2014/main" id="{777CC02B-F7C6-47A8-8C3E-C57C417D9EA3}"/>
              </a:ext>
            </a:extLst>
          </p:cNvPr>
          <p:cNvSpPr>
            <a:spLocks noGrp="1"/>
          </p:cNvSpPr>
          <p:nvPr>
            <p:ph type="title"/>
          </p:nvPr>
        </p:nvSpPr>
        <p:spPr>
          <a:xfrm>
            <a:off x="754602" y="550417"/>
            <a:ext cx="6995604" cy="790111"/>
          </a:xfrm>
        </p:spPr>
        <p:txBody>
          <a:bodyPr>
            <a:normAutofit fontScale="90000"/>
          </a:bodyPr>
          <a:lstStyle/>
          <a:p>
            <a:r>
              <a:rPr lang="en-US" dirty="0"/>
              <a:t>PROBLEM  STATEMENT</a:t>
            </a:r>
            <a:endParaRPr lang="en-IN" dirty="0"/>
          </a:p>
        </p:txBody>
      </p:sp>
      <p:pic>
        <p:nvPicPr>
          <p:cNvPr id="5" name="Picture 4">
            <a:extLst>
              <a:ext uri="{FF2B5EF4-FFF2-40B4-BE49-F238E27FC236}">
                <a16:creationId xmlns:a16="http://schemas.microsoft.com/office/drawing/2014/main" id="{C8FE02DE-D7B2-433D-BFE4-2F564022AD89}"/>
              </a:ext>
            </a:extLst>
          </p:cNvPr>
          <p:cNvPicPr>
            <a:picLocks noChangeAspect="1"/>
          </p:cNvPicPr>
          <p:nvPr/>
        </p:nvPicPr>
        <p:blipFill>
          <a:blip r:embed="rId2"/>
          <a:stretch>
            <a:fillRect/>
          </a:stretch>
        </p:blipFill>
        <p:spPr>
          <a:xfrm>
            <a:off x="7995684" y="2930834"/>
            <a:ext cx="2760758" cy="3264409"/>
          </a:xfrm>
          <a:prstGeom prst="rect">
            <a:avLst/>
          </a:prstGeom>
        </p:spPr>
      </p:pic>
      <p:pic>
        <p:nvPicPr>
          <p:cNvPr id="6" name="Picture 5">
            <a:extLst>
              <a:ext uri="{FF2B5EF4-FFF2-40B4-BE49-F238E27FC236}">
                <a16:creationId xmlns:a16="http://schemas.microsoft.com/office/drawing/2014/main" id="{736DEFE3-051A-494A-949C-BB2FF86F9ED7}"/>
              </a:ext>
            </a:extLst>
          </p:cNvPr>
          <p:cNvPicPr>
            <a:picLocks noChangeAspect="1"/>
          </p:cNvPicPr>
          <p:nvPr/>
        </p:nvPicPr>
        <p:blipFill rotWithShape="1">
          <a:blip r:embed="rId3"/>
          <a:srcRect t="96181"/>
          <a:stretch/>
        </p:blipFill>
        <p:spPr>
          <a:xfrm>
            <a:off x="675957" y="6471920"/>
            <a:ext cx="2143125" cy="193040"/>
          </a:xfrm>
          <a:prstGeom prst="rect">
            <a:avLst/>
          </a:prstGeom>
        </p:spPr>
      </p:pic>
    </p:spTree>
    <p:extLst>
      <p:ext uri="{BB962C8B-B14F-4D97-AF65-F5344CB8AC3E}">
        <p14:creationId xmlns:p14="http://schemas.microsoft.com/office/powerpoint/2010/main" val="309854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BF2FBC7-3552-4F01-BB27-8BEEE74F7277}"/>
              </a:ext>
            </a:extLst>
          </p:cNvPr>
          <p:cNvSpPr>
            <a:spLocks noGrp="1"/>
          </p:cNvSpPr>
          <p:nvPr>
            <p:ph type="title"/>
          </p:nvPr>
        </p:nvSpPr>
        <p:spPr>
          <a:xfrm>
            <a:off x="660399" y="805213"/>
            <a:ext cx="6276109" cy="830997"/>
          </a:xfrm>
        </p:spPr>
        <p:txBody>
          <a:bodyPr>
            <a:normAutofit/>
          </a:bodyPr>
          <a:lstStyle/>
          <a:p>
            <a:r>
              <a:rPr lang="en-GB" dirty="0"/>
              <a:t>Project Description</a:t>
            </a:r>
            <a:endParaRPr lang="en-IN" dirty="0"/>
          </a:p>
        </p:txBody>
      </p:sp>
      <p:pic>
        <p:nvPicPr>
          <p:cNvPr id="5" name="Picture 4">
            <a:extLst>
              <a:ext uri="{FF2B5EF4-FFF2-40B4-BE49-F238E27FC236}">
                <a16:creationId xmlns:a16="http://schemas.microsoft.com/office/drawing/2014/main"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a16="http://schemas.microsoft.com/office/drawing/2014/main" id="{6BED3D6A-DC10-4985-B01B-735F2CBA6E47}"/>
              </a:ext>
            </a:extLst>
          </p:cNvPr>
          <p:cNvPicPr>
            <a:picLocks noChangeAspect="1"/>
          </p:cNvPicPr>
          <p:nvPr/>
        </p:nvPicPr>
        <p:blipFill>
          <a:blip r:embed="rId3"/>
          <a:stretch>
            <a:fillRect/>
          </a:stretch>
        </p:blipFill>
        <p:spPr>
          <a:xfrm>
            <a:off x="467359" y="6410461"/>
            <a:ext cx="3706253" cy="296092"/>
          </a:xfrm>
          <a:prstGeom prst="rect">
            <a:avLst/>
          </a:prstGeom>
        </p:spPr>
      </p:pic>
      <p:sp>
        <p:nvSpPr>
          <p:cNvPr id="10" name="TextBox 9"/>
          <p:cNvSpPr txBox="1"/>
          <p:nvPr/>
        </p:nvSpPr>
        <p:spPr>
          <a:xfrm>
            <a:off x="1167250" y="1979073"/>
            <a:ext cx="7331280" cy="3607987"/>
          </a:xfrm>
          <a:prstGeom prst="rect">
            <a:avLst/>
          </a:prstGeom>
          <a:noFill/>
        </p:spPr>
        <p:txBody>
          <a:bodyPr wrap="square">
            <a:spAutoFit/>
          </a:bodyPr>
          <a:lstStyle/>
          <a:p>
            <a:pPr algn="just">
              <a:lnSpc>
                <a:spcPts val="2700"/>
              </a:lnSpc>
            </a:pPr>
            <a:r>
              <a:rPr sz="1800" dirty="0"/>
              <a:t>This project analyzes 3,880 farm records spanning 8 Indian states, 8 major crops, and 3 growing seasons (Kharif, Rabi and Zaid) to uncover how profitability, yield, water usage, input consumption, and pest/disease risk vary across seasons. Using Python with Pandas, Matplotlib and Seaborn, the study covers seasonal profitability, resource intensity, crop-specific performance, environmental risk correlations, input-usage patterns, water efficiency, feature correlations, state-wise comparisons, and yield-gap analysis — delivering data-driven insights for farmers, agribusinesses, and policymakers.</a:t>
            </a:r>
          </a:p>
        </p:txBody>
      </p:sp>
    </p:spTree>
    <p:extLst>
      <p:ext uri="{BB962C8B-B14F-4D97-AF65-F5344CB8AC3E}">
        <p14:creationId xmlns:p14="http://schemas.microsoft.com/office/powerpoint/2010/main" val="3696770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4E3B60-2780-459A-8583-F095D5E7463A}"/>
              </a:ext>
            </a:extLst>
          </p:cNvPr>
          <p:cNvSpPr>
            <a:spLocks noGrp="1"/>
          </p:cNvSpPr>
          <p:nvPr>
            <p:ph type="body" sz="quarter" idx="12"/>
          </p:nvPr>
        </p:nvSpPr>
        <p:spPr>
          <a:xfrm>
            <a:off x="721359" y="1991360"/>
            <a:ext cx="7904481" cy="3990023"/>
          </a:xfrm>
        </p:spPr>
        <p:txBody>
          <a:bodyPr>
            <a:normAutofit/>
          </a:bodyPr>
          <a:lstStyle/>
          <a:p>
            <a:pPr algn="just">
              <a:lnSpc>
                <a:spcPct val="140000"/>
              </a:lnSpc>
            </a:pPr>
            <a:r>
              <a:rPr lang="en-US" sz="2000" dirty="0"/>
              <a:t>Farmers &amp; Agronomists – choose the right crop and season for maximum yield and profit</a:t>
            </a:r>
          </a:p>
          <a:p>
            <a:pPr algn="just">
              <a:lnSpc>
                <a:spcPct val="140000"/>
              </a:lnSpc>
            </a:pPr>
            <a:r>
              <a:rPr lang="en-US" sz="2000" dirty="0"/>
              <a:t>Agricultural Policymakers &amp; Government Bodies – plan irrigation, subsidies, and resource allocation</a:t>
            </a:r>
          </a:p>
          <a:p>
            <a:pPr algn="just">
              <a:lnSpc>
                <a:spcPct val="140000"/>
              </a:lnSpc>
            </a:pPr>
            <a:r>
              <a:rPr lang="en-US" sz="2000" dirty="0"/>
              <a:t>Agribusinesses &amp; Agri-fintech Companies – assess crop and seasonal risk for insurance and lending</a:t>
            </a:r>
          </a:p>
          <a:p>
            <a:pPr algn="just">
              <a:lnSpc>
                <a:spcPct val="140000"/>
              </a:lnSpc>
            </a:pPr>
            <a:r>
              <a:rPr lang="en-US" sz="2000" dirty="0"/>
              <a:t>Researchers &amp; Agri-Tech Students – use as a reference for further data-driven farming studies</a:t>
            </a:r>
          </a:p>
        </p:txBody>
      </p:sp>
      <p:sp>
        <p:nvSpPr>
          <p:cNvPr id="4" name="Title 3">
            <a:extLst>
              <a:ext uri="{FF2B5EF4-FFF2-40B4-BE49-F238E27FC236}">
                <a16:creationId xmlns:a16="http://schemas.microsoft.com/office/drawing/2014/main" id="{1A4A072B-83C6-4607-AE6A-5AD61CC72C44}"/>
              </a:ext>
            </a:extLst>
          </p:cNvPr>
          <p:cNvSpPr>
            <a:spLocks noGrp="1"/>
          </p:cNvSpPr>
          <p:nvPr>
            <p:ph type="title"/>
          </p:nvPr>
        </p:nvSpPr>
        <p:spPr>
          <a:xfrm>
            <a:off x="620008" y="876617"/>
            <a:ext cx="10046070" cy="802641"/>
          </a:xfrm>
        </p:spPr>
        <p:txBody>
          <a:bodyPr>
            <a:normAutofit/>
          </a:bodyPr>
          <a:lstStyle/>
          <a:p>
            <a:r>
              <a:rPr lang="en-US" sz="3200" dirty="0"/>
              <a:t>WHO ARE THE END USERS?</a:t>
            </a:r>
            <a:endParaRPr lang="en-IN" sz="2000" dirty="0"/>
          </a:p>
        </p:txBody>
      </p:sp>
      <p:pic>
        <p:nvPicPr>
          <p:cNvPr id="6" name="Picture 5">
            <a:extLst>
              <a:ext uri="{FF2B5EF4-FFF2-40B4-BE49-F238E27FC236}">
                <a16:creationId xmlns:a16="http://schemas.microsoft.com/office/drawing/2014/main" id="{E8B153BB-61B9-403F-8AE5-F75400450AC0}"/>
              </a:ext>
            </a:extLst>
          </p:cNvPr>
          <p:cNvPicPr>
            <a:picLocks noChangeAspect="1"/>
          </p:cNvPicPr>
          <p:nvPr/>
        </p:nvPicPr>
        <p:blipFill>
          <a:blip r:embed="rId2"/>
          <a:stretch>
            <a:fillRect/>
          </a:stretch>
        </p:blipFill>
        <p:spPr>
          <a:xfrm>
            <a:off x="721359" y="6176804"/>
            <a:ext cx="2181225" cy="485775"/>
          </a:xfrm>
          <a:prstGeom prst="rect">
            <a:avLst/>
          </a:prstGeom>
        </p:spPr>
      </p:pic>
    </p:spTree>
    <p:extLst>
      <p:ext uri="{BB962C8B-B14F-4D97-AF65-F5344CB8AC3E}">
        <p14:creationId xmlns:p14="http://schemas.microsoft.com/office/powerpoint/2010/main" val="4807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pic>
        <p:nvPicPr>
          <p:cNvPr id="2" name="Picture 1">
            <a:extLst>
              <a:ext uri="{FF2B5EF4-FFF2-40B4-BE49-F238E27FC236}">
                <a16:creationId xmlns:a16="http://schemas.microsoft.com/office/drawing/2014/main" id="{F1FC3E39-8C60-4F64-9838-2A683F25B8C4}"/>
              </a:ext>
            </a:extLst>
          </p:cNvPr>
          <p:cNvPicPr>
            <a:picLocks noChangeAspect="1"/>
          </p:cNvPicPr>
          <p:nvPr/>
        </p:nvPicPr>
        <p:blipFill>
          <a:blip r:embed="rId4"/>
          <a:stretch>
            <a:fillRect/>
          </a:stretch>
        </p:blipFill>
        <p:spPr>
          <a:xfrm flipH="1">
            <a:off x="50800" y="3820160"/>
            <a:ext cx="1727200" cy="3010024"/>
          </a:xfrm>
          <a:prstGeom prst="rect">
            <a:avLst/>
          </a:prstGeom>
        </p:spPr>
      </p:pic>
      <p:sp>
        <p:nvSpPr>
          <p:cNvPr id="7" name="Text Placeholder 6">
            <a:extLst>
              <a:ext uri="{FF2B5EF4-FFF2-40B4-BE49-F238E27FC236}">
                <a16:creationId xmlns:a16="http://schemas.microsoft.com/office/drawing/2014/main" id="{B21C28F5-3CA3-4B78-B5C9-550C00BB3174}"/>
              </a:ext>
            </a:extLst>
          </p:cNvPr>
          <p:cNvSpPr>
            <a:spLocks noGrp="1"/>
          </p:cNvSpPr>
          <p:nvPr>
            <p:ph type="body" sz="quarter" idx="12"/>
          </p:nvPr>
        </p:nvSpPr>
        <p:spPr>
          <a:xfrm>
            <a:off x="390618" y="1432560"/>
            <a:ext cx="8684371" cy="2820263"/>
          </a:xfrm>
        </p:spPr>
        <p:txBody>
          <a:bodyPr/>
          <a:lstStyle/>
          <a:p>
            <a:pPr>
              <a:lnSpc>
                <a:spcPts val="2400"/>
              </a:lnSpc>
            </a:pPr>
            <a:r>
              <a:rPr lang="en-US" sz="1800" dirty="0"/>
              <a:t>Python 3</a:t>
            </a:r>
          </a:p>
          <a:p>
            <a:pPr>
              <a:lnSpc>
                <a:spcPts val="2400"/>
              </a:lnSpc>
            </a:pPr>
            <a:r>
              <a:rPr lang="en-US" sz="1800" dirty="0"/>
              <a:t>Pandas &amp; NumPy – data cleaning and aggregation</a:t>
            </a:r>
          </a:p>
          <a:p>
            <a:pPr>
              <a:lnSpc>
                <a:spcPts val="2400"/>
              </a:lnSpc>
            </a:pPr>
            <a:r>
              <a:rPr lang="en-US" sz="1800" dirty="0"/>
              <a:t>Matplotlib &amp; Seaborn – data visualization</a:t>
            </a:r>
          </a:p>
          <a:p>
            <a:pPr>
              <a:lnSpc>
                <a:spcPts val="2400"/>
              </a:lnSpc>
            </a:pPr>
            <a:r>
              <a:rPr lang="en-US" sz="1800" dirty="0"/>
              <a:t>Jupyter Notebook / Google Colab – development environment</a:t>
            </a:r>
          </a:p>
          <a:p>
            <a:pPr>
              <a:lnSpc>
                <a:spcPts val="2400"/>
              </a:lnSpc>
            </a:pPr>
            <a:r>
              <a:rPr lang="en-US" sz="1800" dirty="0"/>
              <a:t>Structured CSV dataset – 3,880 records, 28 features</a:t>
            </a:r>
          </a:p>
        </p:txBody>
      </p:sp>
      <p:sp>
        <p:nvSpPr>
          <p:cNvPr id="9" name="Title 8">
            <a:extLst>
              <a:ext uri="{FF2B5EF4-FFF2-40B4-BE49-F238E27FC236}">
                <a16:creationId xmlns:a16="http://schemas.microsoft.com/office/drawing/2014/main" id="{FEF304F5-32C5-4869-B185-859B567855A8}"/>
              </a:ext>
            </a:extLst>
          </p:cNvPr>
          <p:cNvSpPr>
            <a:spLocks noGrp="1"/>
          </p:cNvSpPr>
          <p:nvPr>
            <p:ph type="title"/>
          </p:nvPr>
        </p:nvSpPr>
        <p:spPr>
          <a:xfrm>
            <a:off x="660399" y="430567"/>
            <a:ext cx="5306291" cy="847817"/>
          </a:xfrm>
        </p:spPr>
        <p:txBody>
          <a:bodyPr>
            <a:normAutofit/>
          </a:bodyPr>
          <a:lstStyle/>
          <a:p>
            <a:r>
              <a:rPr lang="en-US" dirty="0"/>
              <a:t>Technology Used</a:t>
            </a:r>
          </a:p>
        </p:txBody>
      </p:sp>
    </p:spTree>
    <p:extLst>
      <p:ext uri="{BB962C8B-B14F-4D97-AF65-F5344CB8AC3E}">
        <p14:creationId xmlns:p14="http://schemas.microsoft.com/office/powerpoint/2010/main" val="13419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xEl>
                                              <p:pRg st="0" end="0"/>
                                            </p:txEl>
                                          </p:spTgt>
                                        </p:tgtEl>
                                        <p:attrNameLst>
                                          <p:attrName>style.visibility</p:attrName>
                                        </p:attrNameLst>
                                      </p:cBhvr>
                                      <p:to>
                                        <p:strVal val="visible"/>
                                      </p:to>
                                    </p:set>
                                    <p:animEffect transition="in" filter="fade">
                                      <p:cBhvr>
                                        <p:cTn id="14" dur="1000"/>
                                        <p:tgtEl>
                                          <p:spTgt spid="7">
                                            <p:txEl>
                                              <p:pRg st="0" end="0"/>
                                            </p:txEl>
                                          </p:spTgt>
                                        </p:tgtEl>
                                      </p:cBhvr>
                                    </p:animEffect>
                                    <p:anim calcmode="lin" valueType="num">
                                      <p:cBhvr>
                                        <p:cTn id="15"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24" name="Picture 23" descr="cell5_img.png"/>
          <p:cNvPicPr>
            <a:picLocks noChangeAspect="1"/>
          </p:cNvPicPr>
          <p:nvPr/>
        </p:nvPicPr>
        <p:blipFill>
          <a:blip r:embed="rId3"/>
          <a:stretch>
            <a:fillRect/>
          </a:stretch>
        </p:blipFill>
        <p:spPr>
          <a:xfrm>
            <a:off x="517191" y="1201586"/>
            <a:ext cx="4603782" cy="2470066"/>
          </a:xfrm>
          <a:prstGeom prst="rect">
            <a:avLst/>
          </a:prstGeom>
        </p:spPr>
      </p:pic>
      <p:pic>
        <p:nvPicPr>
          <p:cNvPr id="25" name="Picture 24" descr="cell6_img.png"/>
          <p:cNvPicPr>
            <a:picLocks noChangeAspect="1"/>
          </p:cNvPicPr>
          <p:nvPr/>
        </p:nvPicPr>
        <p:blipFill>
          <a:blip r:embed="rId4"/>
          <a:stretch>
            <a:fillRect/>
          </a:stretch>
        </p:blipFill>
        <p:spPr>
          <a:xfrm>
            <a:off x="5317182" y="1201586"/>
            <a:ext cx="4358092" cy="2458948"/>
          </a:xfrm>
          <a:prstGeom prst="rect">
            <a:avLst/>
          </a:prstGeom>
        </p:spPr>
      </p:pic>
      <p:pic>
        <p:nvPicPr>
          <p:cNvPr id="26" name="Picture 25" descr="cell7_img.png"/>
          <p:cNvPicPr>
            <a:picLocks noChangeAspect="1"/>
          </p:cNvPicPr>
          <p:nvPr/>
        </p:nvPicPr>
        <p:blipFill>
          <a:blip r:embed="rId5"/>
          <a:stretch>
            <a:fillRect/>
          </a:stretch>
        </p:blipFill>
        <p:spPr>
          <a:xfrm>
            <a:off x="675957" y="3972797"/>
            <a:ext cx="4344717" cy="2377203"/>
          </a:xfrm>
          <a:prstGeom prst="rect">
            <a:avLst/>
          </a:prstGeom>
        </p:spPr>
      </p:pic>
      <p:pic>
        <p:nvPicPr>
          <p:cNvPr id="27" name="Picture 26" descr="cell24_img.png"/>
          <p:cNvPicPr>
            <a:picLocks noChangeAspect="1"/>
          </p:cNvPicPr>
          <p:nvPr/>
        </p:nvPicPr>
        <p:blipFill>
          <a:blip r:embed="rId6"/>
          <a:stretch>
            <a:fillRect/>
          </a:stretch>
        </p:blipFill>
        <p:spPr>
          <a:xfrm>
            <a:off x="5541470" y="3746191"/>
            <a:ext cx="4033851" cy="2459885"/>
          </a:xfrm>
          <a:prstGeom prst="rect">
            <a:avLst/>
          </a:prstGeom>
        </p:spPr>
      </p:pic>
    </p:spTree>
    <p:extLst>
      <p:ext uri="{BB962C8B-B14F-4D97-AF65-F5344CB8AC3E}">
        <p14:creationId xmlns:p14="http://schemas.microsoft.com/office/powerpoint/2010/main" val="108622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AAE43-B138-25CD-D01F-41DB388556C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FCF24DA-3CDC-4D87-9335-AB913C783F76}"/>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6D5AF756-BADB-9E87-14AC-F87A8C7463BF}"/>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716F3BA-AE41-9B35-3BCA-353F205375D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E149068-B429-662F-714A-0DD8CE171A51}"/>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3A64DB11-806F-1A4C-E0D5-D745D29CED50}"/>
              </a:ext>
            </a:extLst>
          </p:cNvPr>
          <p:cNvSpPr>
            <a:spLocks noGrp="1"/>
          </p:cNvSpPr>
          <p:nvPr>
            <p:ph type="body" sz="quarter" idx="12"/>
          </p:nvPr>
        </p:nvSpPr>
        <p:spPr>
          <a:xfrm>
            <a:off x="807164" y="1431693"/>
            <a:ext cx="4275138" cy="477520"/>
          </a:xfrm>
        </p:spPr>
        <p:txBody>
          <a:bodyPr/>
          <a:lstStyle/>
          <a:p>
            <a:pPr marL="0" indent="0">
              <a:buNone/>
            </a:pPr>
            <a:r>
              <a:rPr lang="en-US" sz="1800" dirty="0"/>
              <a:t>Resource &amp; Input Usage</a:t>
            </a:r>
            <a:endParaRPr lang="en-IN" dirty="0"/>
          </a:p>
        </p:txBody>
      </p:sp>
      <p:pic>
        <p:nvPicPr>
          <p:cNvPr id="31" name="Picture 30" descr="cell9_img.png"/>
          <p:cNvPicPr>
            <a:picLocks noChangeAspect="1"/>
          </p:cNvPicPr>
          <p:nvPr/>
        </p:nvPicPr>
        <p:blipFill>
          <a:blip r:embed="rId3"/>
          <a:stretch>
            <a:fillRect/>
          </a:stretch>
        </p:blipFill>
        <p:spPr>
          <a:xfrm>
            <a:off x="675957" y="1941449"/>
            <a:ext cx="4901891" cy="3312038"/>
          </a:xfrm>
          <a:prstGeom prst="rect">
            <a:avLst/>
          </a:prstGeom>
        </p:spPr>
      </p:pic>
      <p:pic>
        <p:nvPicPr>
          <p:cNvPr id="32" name="Picture 31" descr="cell11_img.png"/>
          <p:cNvPicPr>
            <a:picLocks noChangeAspect="1"/>
          </p:cNvPicPr>
          <p:nvPr/>
        </p:nvPicPr>
        <p:blipFill>
          <a:blip r:embed="rId4"/>
          <a:stretch>
            <a:fillRect/>
          </a:stretch>
        </p:blipFill>
        <p:spPr>
          <a:xfrm>
            <a:off x="6017474" y="1941449"/>
            <a:ext cx="5640811" cy="3054355"/>
          </a:xfrm>
          <a:prstGeom prst="rect">
            <a:avLst/>
          </a:prstGeom>
        </p:spPr>
      </p:pic>
    </p:spTree>
    <p:extLst>
      <p:ext uri="{BB962C8B-B14F-4D97-AF65-F5344CB8AC3E}">
        <p14:creationId xmlns:p14="http://schemas.microsoft.com/office/powerpoint/2010/main" val="3849627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9E943-C59C-1D86-29CA-F786C47BABA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EC6E6C7-69F2-D361-F3CC-FC5268D9BC8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DFCD5524-F764-DC63-6F54-D48057CF17B7}"/>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B1E3463-DEAD-53DD-2AC0-E8A458421D0B}"/>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B713140B-3822-90E0-F216-B77A695B86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B6E3B1C7-6A8B-23EE-6251-DC1067C6ADE9}"/>
              </a:ext>
            </a:extLst>
          </p:cNvPr>
          <p:cNvSpPr>
            <a:spLocks noGrp="1"/>
          </p:cNvSpPr>
          <p:nvPr>
            <p:ph type="body" sz="quarter" idx="12"/>
          </p:nvPr>
        </p:nvSpPr>
        <p:spPr>
          <a:xfrm>
            <a:off x="807164" y="1431693"/>
            <a:ext cx="4275138" cy="477520"/>
          </a:xfrm>
        </p:spPr>
        <p:txBody>
          <a:bodyPr/>
          <a:lstStyle/>
          <a:p>
            <a:pPr marL="0" indent="0">
              <a:buNone/>
            </a:pPr>
            <a:r>
              <a:rPr lang="en-US" sz="1800" dirty="0"/>
              <a:t>Crop-Specific Performance</a:t>
            </a:r>
            <a:endParaRPr lang="en-IN" dirty="0"/>
          </a:p>
        </p:txBody>
      </p:sp>
      <p:pic>
        <p:nvPicPr>
          <p:cNvPr id="31" name="Picture 30" descr="cell13_img.png"/>
          <p:cNvPicPr>
            <a:picLocks noChangeAspect="1"/>
          </p:cNvPicPr>
          <p:nvPr/>
        </p:nvPicPr>
        <p:blipFill>
          <a:blip r:embed="rId3"/>
          <a:stretch>
            <a:fillRect/>
          </a:stretch>
        </p:blipFill>
        <p:spPr>
          <a:xfrm>
            <a:off x="346965" y="2097771"/>
            <a:ext cx="5670509" cy="3856930"/>
          </a:xfrm>
          <a:prstGeom prst="rect">
            <a:avLst/>
          </a:prstGeom>
        </p:spPr>
      </p:pic>
      <p:pic>
        <p:nvPicPr>
          <p:cNvPr id="32" name="Picture 31" descr="cell26_img.png"/>
          <p:cNvPicPr>
            <a:picLocks noChangeAspect="1"/>
          </p:cNvPicPr>
          <p:nvPr/>
        </p:nvPicPr>
        <p:blipFill>
          <a:blip r:embed="rId4"/>
          <a:stretch>
            <a:fillRect/>
          </a:stretch>
        </p:blipFill>
        <p:spPr>
          <a:xfrm>
            <a:off x="6221491" y="2104846"/>
            <a:ext cx="5670509" cy="3654520"/>
          </a:xfrm>
          <a:prstGeom prst="rect">
            <a:avLst/>
          </a:prstGeom>
        </p:spPr>
      </p:pic>
    </p:spTree>
    <p:extLst>
      <p:ext uri="{BB962C8B-B14F-4D97-AF65-F5344CB8AC3E}">
        <p14:creationId xmlns:p14="http://schemas.microsoft.com/office/powerpoint/2010/main" val="1698901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5AC1B-54F8-474D-6B86-CF23FDF34B0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9D7CE81-8696-30A4-F33E-B4B569D3502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15FD49EE-0956-AAE3-737B-15F7D4267C1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D224F8B1-34DD-5A54-7F70-25EBA532E6E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5A36120-3EFF-6A69-8D23-42BFD883ADDA}"/>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2B7B89A1-9444-8322-CADC-42D31D698FA8}"/>
              </a:ext>
            </a:extLst>
          </p:cNvPr>
          <p:cNvSpPr>
            <a:spLocks noGrp="1"/>
          </p:cNvSpPr>
          <p:nvPr>
            <p:ph type="body" sz="quarter" idx="12"/>
          </p:nvPr>
        </p:nvSpPr>
        <p:spPr>
          <a:xfrm>
            <a:off x="807164" y="1431693"/>
            <a:ext cx="4275138" cy="477520"/>
          </a:xfrm>
        </p:spPr>
        <p:txBody>
          <a:bodyPr/>
          <a:lstStyle/>
          <a:p>
            <a:pPr marL="0" indent="0">
              <a:buNone/>
            </a:pPr>
            <a:r>
              <a:rPr lang="en-US" sz="1800" dirty="0"/>
              <a:t>Environmental &amp; Disease Risk</a:t>
            </a:r>
            <a:endParaRPr lang="en-IN" dirty="0"/>
          </a:p>
        </p:txBody>
      </p:sp>
      <p:pic>
        <p:nvPicPr>
          <p:cNvPr id="31" name="Picture 30" descr="cell15_img.png"/>
          <p:cNvPicPr>
            <a:picLocks noChangeAspect="1"/>
          </p:cNvPicPr>
          <p:nvPr/>
        </p:nvPicPr>
        <p:blipFill>
          <a:blip r:embed="rId3"/>
          <a:stretch>
            <a:fillRect/>
          </a:stretch>
        </p:blipFill>
        <p:spPr>
          <a:xfrm>
            <a:off x="420099" y="2020000"/>
            <a:ext cx="5430310" cy="4330000"/>
          </a:xfrm>
          <a:prstGeom prst="rect">
            <a:avLst/>
          </a:prstGeom>
        </p:spPr>
      </p:pic>
      <p:pic>
        <p:nvPicPr>
          <p:cNvPr id="32" name="Picture 31" descr="cell17_img.png"/>
          <p:cNvPicPr>
            <a:picLocks noChangeAspect="1"/>
          </p:cNvPicPr>
          <p:nvPr/>
        </p:nvPicPr>
        <p:blipFill>
          <a:blip r:embed="rId4"/>
          <a:stretch>
            <a:fillRect/>
          </a:stretch>
        </p:blipFill>
        <p:spPr>
          <a:xfrm>
            <a:off x="6220509" y="2491882"/>
            <a:ext cx="5670509" cy="3386235"/>
          </a:xfrm>
          <a:prstGeom prst="rect">
            <a:avLst/>
          </a:prstGeom>
        </p:spPr>
      </p:pic>
    </p:spTree>
    <p:extLst>
      <p:ext uri="{BB962C8B-B14F-4D97-AF65-F5344CB8AC3E}">
        <p14:creationId xmlns:p14="http://schemas.microsoft.com/office/powerpoint/2010/main" val="1903979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30C45-6A74-29AD-A5C0-D5F36592DB6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E7611FF-D6E5-400F-ED75-6F5531CFA95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9E35150-35BD-1B1F-9A8C-890DBFDF3B54}"/>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5A2A9BCE-A757-223C-2A3D-44341FB27A6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1EED58A7-2CD5-1355-8D1D-DD62A1ED8C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F85C769B-425A-FE3B-E47A-3B747985DC52}"/>
              </a:ext>
            </a:extLst>
          </p:cNvPr>
          <p:cNvSpPr>
            <a:spLocks noGrp="1"/>
          </p:cNvSpPr>
          <p:nvPr>
            <p:ph type="body" sz="quarter" idx="12"/>
          </p:nvPr>
        </p:nvSpPr>
        <p:spPr>
          <a:xfrm>
            <a:off x="807164" y="1431693"/>
            <a:ext cx="4275138" cy="477520"/>
          </a:xfrm>
        </p:spPr>
        <p:txBody>
          <a:bodyPr/>
          <a:lstStyle/>
          <a:p>
            <a:pPr marL="0" indent="0">
              <a:buNone/>
            </a:pPr>
            <a:r>
              <a:rPr lang="en-US" sz="1800" dirty="0"/>
              <a:t>Correlation &amp; State Analysis</a:t>
            </a:r>
            <a:endParaRPr lang="en-IN" dirty="0"/>
          </a:p>
        </p:txBody>
      </p:sp>
      <p:pic>
        <p:nvPicPr>
          <p:cNvPr id="31" name="Picture 30" descr="cell19_img.png"/>
          <p:cNvPicPr>
            <a:picLocks noChangeAspect="1"/>
          </p:cNvPicPr>
          <p:nvPr/>
        </p:nvPicPr>
        <p:blipFill>
          <a:blip r:embed="rId3"/>
          <a:stretch>
            <a:fillRect/>
          </a:stretch>
        </p:blipFill>
        <p:spPr>
          <a:xfrm>
            <a:off x="299999" y="2065534"/>
            <a:ext cx="4275138" cy="3983317"/>
          </a:xfrm>
          <a:prstGeom prst="rect">
            <a:avLst/>
          </a:prstGeom>
        </p:spPr>
      </p:pic>
      <p:pic>
        <p:nvPicPr>
          <p:cNvPr id="32" name="Picture 31" descr="cell21_img.png"/>
          <p:cNvPicPr>
            <a:picLocks noChangeAspect="1"/>
          </p:cNvPicPr>
          <p:nvPr/>
        </p:nvPicPr>
        <p:blipFill>
          <a:blip r:embed="rId4"/>
          <a:stretch>
            <a:fillRect/>
          </a:stretch>
        </p:blipFill>
        <p:spPr>
          <a:xfrm>
            <a:off x="4830452" y="513430"/>
            <a:ext cx="4870663" cy="2419551"/>
          </a:xfrm>
          <a:prstGeom prst="rect">
            <a:avLst/>
          </a:prstGeom>
        </p:spPr>
      </p:pic>
      <p:pic>
        <p:nvPicPr>
          <p:cNvPr id="33" name="Picture 32" descr="cell22_img.png"/>
          <p:cNvPicPr>
            <a:picLocks noChangeAspect="1"/>
          </p:cNvPicPr>
          <p:nvPr/>
        </p:nvPicPr>
        <p:blipFill>
          <a:blip r:embed="rId5"/>
          <a:stretch>
            <a:fillRect/>
          </a:stretch>
        </p:blipFill>
        <p:spPr>
          <a:xfrm>
            <a:off x="4907347" y="3220052"/>
            <a:ext cx="4870663" cy="2419551"/>
          </a:xfrm>
          <a:prstGeom prst="rect">
            <a:avLst/>
          </a:prstGeom>
        </p:spPr>
      </p:pic>
    </p:spTree>
    <p:extLst>
      <p:ext uri="{BB962C8B-B14F-4D97-AF65-F5344CB8AC3E}">
        <p14:creationId xmlns:p14="http://schemas.microsoft.com/office/powerpoint/2010/main" val="1421522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4506C61-5206-F1DF-9994-DED24DFB1C6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B097C2C-D75A-31D4-CD9F-366F39CDE51D}"/>
              </a:ext>
            </a:extLst>
          </p:cNvPr>
          <p:cNvSpPr>
            <a:spLocks noGrp="1"/>
          </p:cNvSpPr>
          <p:nvPr>
            <p:ph type="title"/>
          </p:nvPr>
        </p:nvSpPr>
        <p:spPr>
          <a:xfrm>
            <a:off x="675957" y="370589"/>
            <a:ext cx="4735798" cy="830997"/>
          </a:xfrm>
        </p:spPr>
        <p:txBody>
          <a:bodyPr>
            <a:normAutofit/>
          </a:bodyPr>
          <a:lstStyle/>
          <a:p>
            <a:r>
              <a:rPr lang="en-IN" sz="4000" dirty="0"/>
              <a:t>Future scope</a:t>
            </a:r>
          </a:p>
        </p:txBody>
      </p:sp>
      <p:sp>
        <p:nvSpPr>
          <p:cNvPr id="7" name="Text Placeholder 30">
            <a:extLst>
              <a:ext uri="{FF2B5EF4-FFF2-40B4-BE49-F238E27FC236}">
                <a16:creationId xmlns:a16="http://schemas.microsoft.com/office/drawing/2014/main" id="{B7444DDE-63A3-9721-77CC-C93FED110DAF}"/>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C8A8B73-0C64-E012-F561-D7FE5E322230}"/>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24" name="TextBox 23"/>
          <p:cNvSpPr txBox="1"/>
          <p:nvPr/>
        </p:nvSpPr>
        <p:spPr>
          <a:xfrm>
            <a:off x="622978" y="1201586"/>
            <a:ext cx="7904481" cy="3990023"/>
          </a:xfrm>
          <a:prstGeom prst="rect">
            <a:avLst/>
          </a:prstGeom>
          <a:noFill/>
        </p:spPr>
        <p:txBody>
          <a:bodyPr wrap="square">
            <a:spAutoFit/>
          </a:bodyPr>
          <a:lstStyle/>
          <a:p>
            <a:pPr>
              <a:lnSpc>
                <a:spcPts val="3000"/>
              </a:lnSpc>
            </a:pPr>
            <a:r>
              <a:rPr sz="2000" dirty="0"/>
              <a:t>•  Integrate real-time weather and market-price APIs for live seasonal forecasting</a:t>
            </a:r>
          </a:p>
          <a:p>
            <a:pPr>
              <a:lnSpc>
                <a:spcPts val="3000"/>
              </a:lnSpc>
            </a:pPr>
            <a:r>
              <a:rPr sz="2000" dirty="0"/>
              <a:t>•  Build a machine-learning model to recommend the optimal crop and season for a given farm</a:t>
            </a:r>
          </a:p>
          <a:p>
            <a:pPr>
              <a:lnSpc>
                <a:spcPts val="3000"/>
              </a:lnSpc>
            </a:pPr>
            <a:r>
              <a:rPr sz="2000" dirty="0"/>
              <a:t>•  Extend the analysis to additional states and multi-year data for long-term trend forecasting</a:t>
            </a:r>
          </a:p>
          <a:p>
            <a:pPr>
              <a:lnSpc>
                <a:spcPts val="3000"/>
              </a:lnSpc>
            </a:pPr>
            <a:r>
              <a:rPr sz="2000" dirty="0"/>
              <a:t>•  Develop an interactive dashboard (Power BI / </a:t>
            </a:r>
            <a:r>
              <a:rPr sz="2000" dirty="0" err="1"/>
              <a:t>Streamlit</a:t>
            </a:r>
            <a:r>
              <a:rPr sz="2000" dirty="0"/>
              <a:t>) for farmers and policymakers</a:t>
            </a:r>
          </a:p>
          <a:p>
            <a:pPr>
              <a:lnSpc>
                <a:spcPts val="3000"/>
              </a:lnSpc>
            </a:pPr>
            <a:r>
              <a:rPr sz="2000" dirty="0"/>
              <a:t>•  Incorporate soil-health and satellite-imagery data for deeper environmental insight</a:t>
            </a:r>
          </a:p>
        </p:txBody>
      </p:sp>
    </p:spTree>
    <p:extLst>
      <p:ext uri="{BB962C8B-B14F-4D97-AF65-F5344CB8AC3E}">
        <p14:creationId xmlns:p14="http://schemas.microsoft.com/office/powerpoint/2010/main" val="776828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316CE-193E-3D5D-C15A-98517303A13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D44118A-0276-9E2F-E0E8-85CEE9F1E0C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01A2257-2F98-CB88-038E-C0F1D0A1A363}"/>
              </a:ext>
            </a:extLst>
          </p:cNvPr>
          <p:cNvSpPr>
            <a:spLocks noGrp="1"/>
          </p:cNvSpPr>
          <p:nvPr>
            <p:ph type="title"/>
          </p:nvPr>
        </p:nvSpPr>
        <p:spPr>
          <a:xfrm>
            <a:off x="675957" y="370589"/>
            <a:ext cx="4735798" cy="830997"/>
          </a:xfrm>
        </p:spPr>
        <p:txBody>
          <a:bodyPr>
            <a:normAutofit/>
          </a:bodyPr>
          <a:lstStyle/>
          <a:p>
            <a:r>
              <a:rPr lang="en-IN" sz="4000" dirty="0"/>
              <a:t>GitHub Link</a:t>
            </a:r>
          </a:p>
        </p:txBody>
      </p:sp>
      <p:sp>
        <p:nvSpPr>
          <p:cNvPr id="7" name="Text Placeholder 30">
            <a:extLst>
              <a:ext uri="{FF2B5EF4-FFF2-40B4-BE49-F238E27FC236}">
                <a16:creationId xmlns:a16="http://schemas.microsoft.com/office/drawing/2014/main" id="{AF1C8809-654A-4DD1-BB18-87B8B6C020B9}"/>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F7D0B46-DEEA-1B5E-FE84-59D11F3B110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3" name="TextBox 2">
            <a:extLst>
              <a:ext uri="{FF2B5EF4-FFF2-40B4-BE49-F238E27FC236}">
                <a16:creationId xmlns:a16="http://schemas.microsoft.com/office/drawing/2014/main" id="{5F0B37E4-66B1-8633-7266-68B321742757}"/>
              </a:ext>
            </a:extLst>
          </p:cNvPr>
          <p:cNvSpPr txBox="1"/>
          <p:nvPr/>
        </p:nvSpPr>
        <p:spPr>
          <a:xfrm>
            <a:off x="729257" y="1440320"/>
            <a:ext cx="5499016" cy="646331"/>
          </a:xfrm>
          <a:prstGeom prst="rect">
            <a:avLst/>
          </a:prstGeom>
          <a:noFill/>
        </p:spPr>
        <p:txBody>
          <a:bodyPr wrap="square">
            <a:spAutoFit/>
          </a:bodyPr>
          <a:lstStyle/>
          <a:p>
            <a:r>
              <a:rPr lang="en-US" dirty="0">
                <a:hlinkClick r:id="rId3"/>
              </a:rPr>
              <a:t>https://github.com/amantabb79015-sketch/-data-analytics</a:t>
            </a:r>
            <a:endParaRPr lang="en-US" dirty="0"/>
          </a:p>
        </p:txBody>
      </p:sp>
    </p:spTree>
    <p:extLst>
      <p:ext uri="{BB962C8B-B14F-4D97-AF65-F5344CB8AC3E}">
        <p14:creationId xmlns:p14="http://schemas.microsoft.com/office/powerpoint/2010/main" val="3863610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66297-EA5A-44FA-6968-26D32B9B1EA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B12FC48-BC6E-8635-A49E-73EF17CEDC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42B692F6-18B4-BC16-EA0C-48FFBD5621DF}"/>
              </a:ext>
            </a:extLst>
          </p:cNvPr>
          <p:cNvSpPr>
            <a:spLocks noGrp="1"/>
          </p:cNvSpPr>
          <p:nvPr>
            <p:ph type="title"/>
          </p:nvPr>
        </p:nvSpPr>
        <p:spPr>
          <a:xfrm>
            <a:off x="675957" y="370589"/>
            <a:ext cx="8351388" cy="884658"/>
          </a:xfrm>
        </p:spPr>
        <p:txBody>
          <a:bodyPr>
            <a:normAutofit fontScale="90000"/>
          </a:bodyPr>
          <a:lstStyle/>
          <a:p>
            <a:r>
              <a:rPr lang="en-IN" sz="3200" dirty="0"/>
              <a:t>VOIS Course completion certificate - </a:t>
            </a:r>
            <a:br>
              <a:rPr lang="en-IN" sz="3200" dirty="0"/>
            </a:br>
            <a:r>
              <a:rPr lang="en-IN" sz="3200" dirty="0"/>
              <a:t>Course name- Data Visualization </a:t>
            </a:r>
          </a:p>
        </p:txBody>
      </p:sp>
      <p:sp>
        <p:nvSpPr>
          <p:cNvPr id="7" name="Text Placeholder 30">
            <a:extLst>
              <a:ext uri="{FF2B5EF4-FFF2-40B4-BE49-F238E27FC236}">
                <a16:creationId xmlns:a16="http://schemas.microsoft.com/office/drawing/2014/main" id="{069BD300-7A70-B076-3B4C-43081E893162}"/>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8C1854F2-9914-C22F-FF0B-693CD1D0F966}"/>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9" name="Picture 8">
            <a:extLst>
              <a:ext uri="{FF2B5EF4-FFF2-40B4-BE49-F238E27FC236}">
                <a16:creationId xmlns:a16="http://schemas.microsoft.com/office/drawing/2014/main" id="{6020105F-2D4D-8513-DA0C-0C0FDFC008EE}"/>
              </a:ext>
            </a:extLst>
          </p:cNvPr>
          <p:cNvPicPr>
            <a:picLocks noChangeAspect="1"/>
          </p:cNvPicPr>
          <p:nvPr/>
        </p:nvPicPr>
        <p:blipFill>
          <a:blip r:embed="rId3"/>
          <a:stretch>
            <a:fillRect/>
          </a:stretch>
        </p:blipFill>
        <p:spPr>
          <a:xfrm>
            <a:off x="1021928" y="1485153"/>
            <a:ext cx="7659445" cy="5179807"/>
          </a:xfrm>
          <a:prstGeom prst="rect">
            <a:avLst/>
          </a:prstGeom>
        </p:spPr>
      </p:pic>
    </p:spTree>
    <p:extLst>
      <p:ext uri="{BB962C8B-B14F-4D97-AF65-F5344CB8AC3E}">
        <p14:creationId xmlns:p14="http://schemas.microsoft.com/office/powerpoint/2010/main" val="3962802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88C20CF-C1EE-4092-B52D-FD4AB2AB2508}"/>
              </a:ext>
            </a:extLst>
          </p:cNvPr>
          <p:cNvSpPr>
            <a:spLocks noGrp="1"/>
          </p:cNvSpPr>
          <p:nvPr>
            <p:ph type="title"/>
          </p:nvPr>
        </p:nvSpPr>
        <p:spPr>
          <a:xfrm>
            <a:off x="-170673" y="757383"/>
            <a:ext cx="11340000" cy="700114"/>
          </a:xfrm>
          <a:prstGeom prst="rect">
            <a:avLst/>
          </a:prstGeom>
        </p:spPr>
        <p:txBody>
          <a:bodyPr anchor="ctr">
            <a:normAutofit fontScale="90000"/>
          </a:bodyPr>
          <a:lstStyle/>
          <a:p>
            <a:pPr algn="ctr"/>
            <a:r>
              <a:rPr lang="en-US" sz="4800" b="1" dirty="0">
                <a:solidFill>
                  <a:schemeClr val="tx1"/>
                </a:solidFill>
              </a:rPr>
              <a:t>Thank you</a:t>
            </a:r>
          </a:p>
        </p:txBody>
      </p:sp>
      <p:sp>
        <p:nvSpPr>
          <p:cNvPr id="31" name="Text Placeholder 30">
            <a:extLst>
              <a:ext uri="{FF2B5EF4-FFF2-40B4-BE49-F238E27FC236}">
                <a16:creationId xmlns:a16="http://schemas.microsoft.com/office/drawing/2014/main" id="{97AB1F14-3A1E-4057-A473-9975BA59F012}"/>
              </a:ext>
            </a:extLst>
          </p:cNvPr>
          <p:cNvSpPr>
            <a:spLocks noGrp="1"/>
          </p:cNvSpPr>
          <p:nvPr>
            <p:ph type="body" sz="quarter" idx="13"/>
          </p:nvPr>
        </p:nvSpPr>
        <p:spPr>
          <a:xfrm>
            <a:off x="3727865" y="4641925"/>
            <a:ext cx="2139695" cy="1108635"/>
          </a:xfrm>
        </p:spPr>
        <p:txBody>
          <a:bodyPr>
            <a:normAutofit/>
          </a:bodyPr>
          <a:lstStyle/>
          <a:p>
            <a:r>
              <a:rPr lang="en-US" dirty="0"/>
              <a:t>.</a:t>
            </a:r>
          </a:p>
        </p:txBody>
      </p:sp>
      <p:sp>
        <p:nvSpPr>
          <p:cNvPr id="17" name="Text Placeholder 28">
            <a:extLst>
              <a:ext uri="{FF2B5EF4-FFF2-40B4-BE49-F238E27FC236}">
                <a16:creationId xmlns:a16="http://schemas.microsoft.com/office/drawing/2014/main" id="{E212CE24-374D-44D0-8F39-0F5A36E42ED7}"/>
              </a:ext>
            </a:extLst>
          </p:cNvPr>
          <p:cNvSpPr txBox="1">
            <a:spLocks/>
          </p:cNvSpPr>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a:extLst>
              <a:ext uri="{FF2B5EF4-FFF2-40B4-BE49-F238E27FC236}">
                <a16:creationId xmlns:a16="http://schemas.microsoft.com/office/drawing/2014/main" id="{A09A5BC1-0E62-4E6B-A590-951A87D4B4FE}"/>
              </a:ext>
            </a:extLst>
          </p:cNvPr>
          <p:cNvSpPr txBox="1">
            <a:spLocks/>
          </p:cNvSpPr>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a:extLst>
              <a:ext uri="{FF2B5EF4-FFF2-40B4-BE49-F238E27FC236}">
                <a16:creationId xmlns:a16="http://schemas.microsoft.com/office/drawing/2014/main" id="{9E6B148F-F3B6-4E6B-9B85-645C039858E8}"/>
              </a:ext>
            </a:extLst>
          </p:cNvPr>
          <p:cNvSpPr txBox="1">
            <a:spLocks/>
          </p:cNvSpPr>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0" name="Text Placeholder 30">
            <a:extLst>
              <a:ext uri="{FF2B5EF4-FFF2-40B4-BE49-F238E27FC236}">
                <a16:creationId xmlns:a16="http://schemas.microsoft.com/office/drawing/2014/main" id="{D3BF02F6-2753-476A-8046-A85AE3A49748}"/>
              </a:ext>
            </a:extLst>
          </p:cNvPr>
          <p:cNvSpPr txBox="1">
            <a:spLocks/>
          </p:cNvSpPr>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a:extLst>
              <a:ext uri="{FF2B5EF4-FFF2-40B4-BE49-F238E27FC236}">
                <a16:creationId xmlns:a16="http://schemas.microsoft.com/office/drawing/2014/main"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a:extLst>
              <a:ext uri="{FF2B5EF4-FFF2-40B4-BE49-F238E27FC236}">
                <a16:creationId xmlns:a16="http://schemas.microsoft.com/office/drawing/2014/main"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12" name="Text Placeholder 11">
            <a:extLst>
              <a:ext uri="{FF2B5EF4-FFF2-40B4-BE49-F238E27FC236}">
                <a16:creationId xmlns:a16="http://schemas.microsoft.com/office/drawing/2014/main" id="{BC277FD7-925B-4C3D-A364-118403201507}"/>
              </a:ext>
            </a:extLst>
          </p:cNvPr>
          <p:cNvSpPr>
            <a:spLocks noGrp="1"/>
          </p:cNvSpPr>
          <p:nvPr>
            <p:ph type="body" sz="quarter" idx="12"/>
          </p:nvPr>
        </p:nvSpPr>
        <p:spPr>
          <a:xfrm>
            <a:off x="1991602" y="1941075"/>
            <a:ext cx="7557840" cy="1108635"/>
          </a:xfrm>
        </p:spPr>
        <p:txBody>
          <a:bodyPr>
            <a:normAutofit/>
          </a:bodyPr>
          <a:lstStyle/>
          <a:p>
            <a:r>
              <a:rPr lang="en-US" dirty="0"/>
              <a:t>I'm happy to answer any questions you have about the project.</a:t>
            </a:r>
          </a:p>
          <a:p>
            <a:endParaRPr lang="en-IN" dirty="0"/>
          </a:p>
        </p:txBody>
      </p:sp>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12" presetClass="entr" presetSubtype="4" fill="hold" grpId="0" nodeType="clickEffect" nodePh="1">
                                  <p:stCondLst>
                                    <p:cond delay="0"/>
                                  </p:stCondLst>
                                  <p:endCondLst>
                                    <p:cond evt="begin" delay="0">
                                      <p:tn val="12"/>
                                    </p:cond>
                                  </p:endCondLst>
                                  <p:childTnLst>
                                    <p:set>
                                      <p:cBhvr>
                                        <p:cTn id="13" dur="1" fill="hold">
                                          <p:stCondLst>
                                            <p:cond delay="0"/>
                                          </p:stCondLst>
                                        </p:cTn>
                                        <p:tgtEl>
                                          <p:spTgt spid="17"/>
                                        </p:tgtEl>
                                        <p:attrNameLst>
                                          <p:attrName>style.visibility</p:attrName>
                                        </p:attrNameLst>
                                      </p:cBhvr>
                                      <p:to>
                                        <p:strVal val="visible"/>
                                      </p:to>
                                    </p:set>
                                    <p:anim calcmode="lin" valueType="num">
                                      <p:cBhvr additive="base">
                                        <p:cTn id="14" dur="500"/>
                                        <p:tgtEl>
                                          <p:spTgt spid="17"/>
                                        </p:tgtEl>
                                        <p:attrNameLst>
                                          <p:attrName>ppt_y</p:attrName>
                                        </p:attrNameLst>
                                      </p:cBhvr>
                                      <p:tavLst>
                                        <p:tav tm="0">
                                          <p:val>
                                            <p:strVal val="#ppt_y+#ppt_h*1.125000"/>
                                          </p:val>
                                        </p:tav>
                                        <p:tav tm="100000">
                                          <p:val>
                                            <p:strVal val="#ppt_y"/>
                                          </p:val>
                                        </p:tav>
                                      </p:tavLst>
                                    </p:anim>
                                    <p:animEffect transition="in" filter="wipe(up)">
                                      <p:cBhvr>
                                        <p:cTn id="15" dur="5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2" presetClass="entr" presetSubtype="4" fill="hold" grpId="0" nodeType="clickEffect">
                                  <p:stCondLst>
                                    <p:cond delay="0"/>
                                  </p:stCondLst>
                                  <p:childTnLst>
                                    <p:set>
                                      <p:cBhvr>
                                        <p:cTn id="19" dur="1" fill="hold">
                                          <p:stCondLst>
                                            <p:cond delay="0"/>
                                          </p:stCondLst>
                                        </p:cTn>
                                        <p:tgtEl>
                                          <p:spTgt spid="31">
                                            <p:txEl>
                                              <p:pRg st="0" end="0"/>
                                            </p:txEl>
                                          </p:spTgt>
                                        </p:tgtEl>
                                        <p:attrNameLst>
                                          <p:attrName>style.visibility</p:attrName>
                                        </p:attrNameLst>
                                      </p:cBhvr>
                                      <p:to>
                                        <p:strVal val="visible"/>
                                      </p:to>
                                    </p:set>
                                    <p:anim calcmode="lin" valueType="num">
                                      <p:cBhvr additive="base">
                                        <p:cTn id="20" dur="500"/>
                                        <p:tgtEl>
                                          <p:spTgt spid="31">
                                            <p:txEl>
                                              <p:pRg st="0" end="0"/>
                                            </p:txEl>
                                          </p:spTgt>
                                        </p:tgtEl>
                                        <p:attrNameLst>
                                          <p:attrName>ppt_y</p:attrName>
                                        </p:attrNameLst>
                                      </p:cBhvr>
                                      <p:tavLst>
                                        <p:tav tm="0">
                                          <p:val>
                                            <p:strVal val="#ppt_y+#ppt_h*1.125000"/>
                                          </p:val>
                                        </p:tav>
                                        <p:tav tm="100000">
                                          <p:val>
                                            <p:strVal val="#ppt_y"/>
                                          </p:val>
                                        </p:tav>
                                      </p:tavLst>
                                    </p:anim>
                                    <p:animEffect transition="in" filter="wipe(up)">
                                      <p:cBhvr>
                                        <p:cTn id="21" dur="500"/>
                                        <p:tgtEl>
                                          <p:spTgt spid="31">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2" presetClass="entr" presetSubtype="4" fill="hold" grpId="0" nodeType="clickEffect" nodePh="1">
                                  <p:stCondLst>
                                    <p:cond delay="0"/>
                                  </p:stCondLst>
                                  <p:endCondLst>
                                    <p:cond evt="begin" delay="0">
                                      <p:tn val="24"/>
                                    </p:cond>
                                  </p:endCondLst>
                                  <p:childTnLst>
                                    <p:set>
                                      <p:cBhvr>
                                        <p:cTn id="25" dur="1" fill="hold">
                                          <p:stCondLst>
                                            <p:cond delay="0"/>
                                          </p:stCondLst>
                                        </p:cTn>
                                        <p:tgtEl>
                                          <p:spTgt spid="20"/>
                                        </p:tgtEl>
                                        <p:attrNameLst>
                                          <p:attrName>style.visibility</p:attrName>
                                        </p:attrNameLst>
                                      </p:cBhvr>
                                      <p:to>
                                        <p:strVal val="visible"/>
                                      </p:to>
                                    </p:set>
                                    <p:anim calcmode="lin" valueType="num">
                                      <p:cBhvr additive="base">
                                        <p:cTn id="26" dur="500"/>
                                        <p:tgtEl>
                                          <p:spTgt spid="20"/>
                                        </p:tgtEl>
                                        <p:attrNameLst>
                                          <p:attrName>ppt_y</p:attrName>
                                        </p:attrNameLst>
                                      </p:cBhvr>
                                      <p:tavLst>
                                        <p:tav tm="0">
                                          <p:val>
                                            <p:strVal val="#ppt_y+#ppt_h*1.125000"/>
                                          </p:val>
                                        </p:tav>
                                        <p:tav tm="100000">
                                          <p:val>
                                            <p:strVal val="#ppt_y"/>
                                          </p:val>
                                        </p:tav>
                                      </p:tavLst>
                                    </p:anim>
                                    <p:animEffect transition="in" filter="wipe(up)">
                                      <p:cBhvr>
                                        <p:cTn id="27" dur="5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12" presetClass="entr" presetSubtype="4" fill="hold" grpId="0" nodeType="clickEffect" nodePh="1">
                                  <p:stCondLst>
                                    <p:cond delay="0"/>
                                  </p:stCondLst>
                                  <p:endCondLst>
                                    <p:cond evt="begin" delay="0">
                                      <p:tn val="30"/>
                                    </p:cond>
                                  </p:endCondLst>
                                  <p:childTnLst>
                                    <p:set>
                                      <p:cBhvr>
                                        <p:cTn id="31" dur="1" fill="hold">
                                          <p:stCondLst>
                                            <p:cond delay="0"/>
                                          </p:stCondLst>
                                        </p:cTn>
                                        <p:tgtEl>
                                          <p:spTgt spid="30"/>
                                        </p:tgtEl>
                                        <p:attrNameLst>
                                          <p:attrName>style.visibility</p:attrName>
                                        </p:attrNameLst>
                                      </p:cBhvr>
                                      <p:to>
                                        <p:strVal val="visible"/>
                                      </p:to>
                                    </p:set>
                                    <p:anim calcmode="lin" valueType="num">
                                      <p:cBhvr additive="base">
                                        <p:cTn id="32" dur="500"/>
                                        <p:tgtEl>
                                          <p:spTgt spid="30"/>
                                        </p:tgtEl>
                                        <p:attrNameLst>
                                          <p:attrName>ppt_y</p:attrName>
                                        </p:attrNameLst>
                                      </p:cBhvr>
                                      <p:tavLst>
                                        <p:tav tm="0">
                                          <p:val>
                                            <p:strVal val="#ppt_y+#ppt_h*1.125000"/>
                                          </p:val>
                                        </p:tav>
                                        <p:tav tm="100000">
                                          <p:val>
                                            <p:strVal val="#ppt_y"/>
                                          </p:val>
                                        </p:tav>
                                      </p:tavLst>
                                    </p:anim>
                                    <p:animEffect transition="in" filter="wipe(up)">
                                      <p:cBhvr>
                                        <p:cTn id="33" dur="500"/>
                                        <p:tgtEl>
                                          <p:spTgt spid="30"/>
                                        </p:tgtEl>
                                      </p:cBhvr>
                                    </p:animEffect>
                                  </p:childTnLst>
                                </p:cTn>
                              </p:par>
                            </p:childTnLst>
                          </p:cTn>
                        </p:par>
                      </p:childTnLst>
                    </p:cTn>
                  </p:par>
                  <p:par>
                    <p:cTn id="34" fill="hold">
                      <p:stCondLst>
                        <p:cond delay="indefinite"/>
                      </p:stCondLst>
                      <p:childTnLst>
                        <p:par>
                          <p:cTn id="35" fill="hold">
                            <p:stCondLst>
                              <p:cond delay="0"/>
                            </p:stCondLst>
                            <p:childTnLst>
                              <p:par>
                                <p:cTn id="36" presetID="12" presetClass="entr" presetSubtype="4" fill="hold" grpId="0" nodeType="clickEffect" nodePh="1">
                                  <p:stCondLst>
                                    <p:cond delay="0"/>
                                  </p:stCondLst>
                                  <p:endCondLst>
                                    <p:cond evt="begin" delay="0">
                                      <p:tn val="36"/>
                                    </p:cond>
                                  </p:end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p:tgtEl>
                                          <p:spTgt spid="23"/>
                                        </p:tgtEl>
                                        <p:attrNameLst>
                                          <p:attrName>ppt_y</p:attrName>
                                        </p:attrNameLst>
                                      </p:cBhvr>
                                      <p:tavLst>
                                        <p:tav tm="0">
                                          <p:val>
                                            <p:strVal val="#ppt_y+#ppt_h*1.125000"/>
                                          </p:val>
                                        </p:tav>
                                        <p:tav tm="100000">
                                          <p:val>
                                            <p:strVal val="#ppt_y"/>
                                          </p:val>
                                        </p:tav>
                                      </p:tavLst>
                                    </p:anim>
                                    <p:animEffect transition="in" filter="wipe(up)">
                                      <p:cBhvr>
                                        <p:cTn id="39" dur="500"/>
                                        <p:tgtEl>
                                          <p:spTgt spid="23"/>
                                        </p:tgtEl>
                                      </p:cBhvr>
                                    </p:animEffect>
                                  </p:childTnLst>
                                </p:cTn>
                              </p:par>
                            </p:childTnLst>
                          </p:cTn>
                        </p:par>
                      </p:childTnLst>
                    </p:cTn>
                  </p:par>
                  <p:par>
                    <p:cTn id="40" fill="hold">
                      <p:stCondLst>
                        <p:cond delay="indefinite"/>
                      </p:stCondLst>
                      <p:childTnLst>
                        <p:par>
                          <p:cTn id="41" fill="hold">
                            <p:stCondLst>
                              <p:cond delay="0"/>
                            </p:stCondLst>
                            <p:childTnLst>
                              <p:par>
                                <p:cTn id="42" presetID="12" presetClass="entr" presetSubtype="4" fill="hold" grpId="0" nodeType="clickEffect">
                                  <p:stCondLst>
                                    <p:cond delay="0"/>
                                  </p:stCondLst>
                                  <p:childTnLst>
                                    <p:set>
                                      <p:cBhvr>
                                        <p:cTn id="43" dur="1" fill="hold">
                                          <p:stCondLst>
                                            <p:cond delay="0"/>
                                          </p:stCondLst>
                                        </p:cTn>
                                        <p:tgtEl>
                                          <p:spTgt spid="32"/>
                                        </p:tgtEl>
                                        <p:attrNameLst>
                                          <p:attrName>style.visibility</p:attrName>
                                        </p:attrNameLst>
                                      </p:cBhvr>
                                      <p:to>
                                        <p:strVal val="visible"/>
                                      </p:to>
                                    </p:set>
                                    <p:anim calcmode="lin" valueType="num">
                                      <p:cBhvr additive="base">
                                        <p:cTn id="44" dur="500"/>
                                        <p:tgtEl>
                                          <p:spTgt spid="32"/>
                                        </p:tgtEl>
                                        <p:attrNameLst>
                                          <p:attrName>ppt_y</p:attrName>
                                        </p:attrNameLst>
                                      </p:cBhvr>
                                      <p:tavLst>
                                        <p:tav tm="0">
                                          <p:val>
                                            <p:strVal val="#ppt_y+#ppt_h*1.125000"/>
                                          </p:val>
                                        </p:tav>
                                        <p:tav tm="100000">
                                          <p:val>
                                            <p:strVal val="#ppt_y"/>
                                          </p:val>
                                        </p:tav>
                                      </p:tavLst>
                                    </p:anim>
                                    <p:animEffect transition="in" filter="wipe(up)">
                                      <p:cBhvr>
                                        <p:cTn id="45"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1" grpId="0" build="p"/>
      <p:bldP spid="17" grpId="0"/>
      <p:bldP spid="20" grpId="0"/>
      <p:bldP spid="23" grpId="0"/>
      <p:bldP spid="30" grpId="0"/>
      <p:bldP spid="32"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5D99ABA-76CE-4A8E-B5F0-C051B96628DE}">
  <ds:schemaRefs>
    <ds:schemaRef ds:uri="http://schemas.microsoft.com/sharepoint/v3/contenttype/forms"/>
  </ds:schemaRefs>
</ds:datastoreItem>
</file>

<file path=customXml/itemProps2.xml><?xml version="1.0" encoding="utf-8"?>
<ds:datastoreItem xmlns:ds="http://schemas.openxmlformats.org/officeDocument/2006/customXml" ds:itemID="{4DEA9014-ED64-4558-B1E1-D03F0EE32BEB}">
  <ds:schemaRefs>
    <ds:schemaRef ds:uri="http://purl.org/dc/dcmitype/"/>
    <ds:schemaRef ds:uri="http://purl.org/dc/terms/"/>
    <ds:schemaRef ds:uri="http://purl.org/dc/elements/1.1/"/>
    <ds:schemaRef ds:uri="http://schemas.microsoft.com/office/2006/documentManagement/types"/>
    <ds:schemaRef ds:uri="http://schemas.microsoft.com/office/2006/metadata/properties"/>
    <ds:schemaRef ds:uri="71af3243-3dd4-4a8d-8c0d-dd76da1f02a5"/>
    <ds:schemaRef ds:uri="http://schemas.microsoft.com/office/infopath/2007/PartnerControls"/>
    <ds:schemaRef ds:uri="http://schemas.openxmlformats.org/package/2006/metadata/core-properties"/>
    <ds:schemaRef ds:uri="16c05727-aa75-4e4a-9b5f-8a80a1165891"/>
    <ds:schemaRef ds:uri="http://www.w3.org/XML/1998/namespace"/>
  </ds:schemaRefs>
</ds:datastoreItem>
</file>

<file path=customXml/itemProps3.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Facet</Template>
  <TotalTime>1440</TotalTime>
  <Words>431</Words>
  <Application>Microsoft Office PowerPoint</Application>
  <PresentationFormat>Widescreen</PresentationFormat>
  <Paragraphs>41</Paragraphs>
  <Slides>14</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14</vt:i4>
      </vt:variant>
    </vt:vector>
  </HeadingPairs>
  <TitlesOfParts>
    <vt:vector size="20" baseType="lpstr">
      <vt:lpstr>Arial</vt:lpstr>
      <vt:lpstr>Calibri</vt:lpstr>
      <vt:lpstr>Trebuchet MS</vt:lpstr>
      <vt:lpstr>Wingdings</vt:lpstr>
      <vt:lpstr>Wingdings 3</vt:lpstr>
      <vt:lpstr>Facet</vt:lpstr>
      <vt:lpstr>Seasonal Agriculture Performance Analysis</vt:lpstr>
      <vt:lpstr>PROBLEM  STATEMENT</vt:lpstr>
      <vt:lpstr>Project Description</vt:lpstr>
      <vt:lpstr>WHO ARE THE END USERS?</vt:lpstr>
      <vt:lpstr>Technology Used</vt:lpstr>
      <vt:lpstr>RESULTS </vt:lpstr>
      <vt:lpstr>RESULTS </vt:lpstr>
      <vt:lpstr>RESULTS </vt:lpstr>
      <vt:lpstr>RESULTS </vt:lpstr>
      <vt:lpstr>RESULTS </vt:lpstr>
      <vt:lpstr>Future scope</vt:lpstr>
      <vt:lpstr>GitHub Link</vt:lpstr>
      <vt:lpstr>VOIS Course completion certificate -  Course name- Data Visualization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amantabb666@gmail.com</cp:lastModifiedBy>
  <cp:revision>102</cp:revision>
  <dcterms:created xsi:type="dcterms:W3CDTF">2021-07-11T13:13:15Z</dcterms:created>
  <dcterms:modified xsi:type="dcterms:W3CDTF">2026-09-10T09:54:40Z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