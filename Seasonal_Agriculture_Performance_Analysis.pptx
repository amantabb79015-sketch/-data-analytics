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73" d="100"/>
          <a:sy n="73" d="100"/>
        </p:scale>
        <p:origin x="540" y="4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9/14/2026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9/14/2026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9/14/2026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9/14/2026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amantabb79015-sketch/-data-analytic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957404" y="3470736"/>
            <a:ext cx="3507019" cy="875777"/>
          </a:xfrm>
        </p:spPr>
        <p:txBody>
          <a:bodyPr vert="horz" lIns="91440" tIns="45720" rIns="91440" bIns="45720" rtlCol="0" anchor="t">
            <a:normAutofit/>
          </a:bodyPr>
          <a:lstStyle/>
          <a:p>
            <a:pPr algn="r"/>
            <a:r>
              <a:rPr lang="en-US" dirty="0">
                <a:solidFill>
                  <a:schemeClr val="tx1"/>
                </a:solidFill>
              </a:rPr>
              <a:t>Mohammed Sulaiman Adnan</a:t>
            </a:r>
            <a:endParaRPr lang="en-IN" dirty="0">
              <a:solidFill>
                <a:schemeClr val="tx1"/>
              </a:solidFill>
            </a:endParaRPr>
          </a:p>
          <a:p>
            <a:pPr algn="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957405" y="2754330"/>
            <a:ext cx="8246979" cy="402938"/>
          </a:xfrm>
        </p:spPr>
        <p:txBody>
          <a:bodyPr>
            <a:normAutofit fontScale="90000"/>
          </a:bodyPr>
          <a:lstStyle/>
          <a:p>
            <a:r>
              <a:rPr lang="en-GB" sz="2200" dirty="0">
                <a:ln w="0"/>
                <a:effectLst>
                  <a:outerShdw blurRad="38100" dist="19050" dir="2700000" algn="tl" rotWithShape="0">
                    <a:schemeClr val="dk1">
                      <a:alpha val="40000"/>
                    </a:schemeClr>
                  </a:outerShdw>
                </a:effectLst>
              </a:rPr>
              <a:t>Seasonal</a:t>
            </a:r>
            <a:r>
              <a:rPr lang="en-GB" sz="2200" dirty="0"/>
              <a:t>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5138594" cy="369332"/>
          </a:xfrm>
          <a:prstGeom prst="rect">
            <a:avLst/>
          </a:prstGeom>
          <a:noFill/>
        </p:spPr>
        <p:txBody>
          <a:bodyPr wrap="square" rtlCol="0">
            <a:spAutoFit/>
          </a:bodyPr>
          <a:lstStyle/>
          <a:p>
            <a:r>
              <a:rPr lang="en-US" b="1" dirty="0"/>
              <a:t>AICTE STU ID : STU6a6cb9f16ef7e1785510385</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0" y="1690777"/>
            <a:ext cx="7683452" cy="3344192"/>
          </a:xfrm>
        </p:spPr>
        <p:txBody>
          <a:bodyPr vert="horz" lIns="91440" tIns="45720" rIns="91440" bIns="45720" rtlCol="0" anchor="t">
            <a:normAutofit fontScale="70000" lnSpcReduction="20000"/>
          </a:bodyPr>
          <a:lstStyle/>
          <a:p>
            <a:r>
              <a:rPr lang="en-IN" sz="2800" dirty="0"/>
              <a:t>Agricultural activities are affected by seasonal changes in environmental conditions, farming practices, availability of resources, and market conditions. Because of these changes, agricultural performance can vary from one season to another. However, raw agricultural data alone does not clearly show how performance changes between seasons or what patterns exist under different seasonal conditions. The problem is to </a:t>
            </a:r>
            <a:r>
              <a:rPr lang="en-IN" sz="2800" dirty="0" err="1"/>
              <a:t>analyze</a:t>
            </a:r>
            <a:r>
              <a:rPr lang="en-IN" sz="2800" dirty="0"/>
              <a:t> the given agricultural dataset and study the differences in agricultural performance across seasons by identifying meaningful patterns, trends, relationships, and variations present in the available data.</a:t>
            </a:r>
          </a:p>
          <a:p>
            <a:pPr>
              <a:lnSpc>
                <a:spcPct val="10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a:bodyPr>
          <a:lstStyle/>
          <a:p>
            <a:r>
              <a:rPr lang="en-GB" dirty="0"/>
              <a:t>Project Description</a:t>
            </a: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10" name="TextBox 9"/>
          <p:cNvSpPr txBox="1"/>
          <p:nvPr/>
        </p:nvSpPr>
        <p:spPr>
          <a:xfrm>
            <a:off x="1167250" y="1979073"/>
            <a:ext cx="7331280" cy="2862322"/>
          </a:xfrm>
          <a:prstGeom prst="rect">
            <a:avLst/>
          </a:prstGeom>
          <a:noFill/>
        </p:spPr>
        <p:txBody>
          <a:bodyPr wrap="square">
            <a:spAutoFit/>
          </a:bodyPr>
          <a:lstStyle/>
          <a:p>
            <a:pPr algn="just">
              <a:lnSpc>
                <a:spcPct val="100000"/>
              </a:lnSpc>
            </a:pPr>
            <a:r>
              <a:rPr lang="en-IN" dirty="0"/>
              <a:t>This project </a:t>
            </a:r>
            <a:r>
              <a:rPr lang="en-IN" dirty="0" err="1"/>
              <a:t>analyzes</a:t>
            </a:r>
            <a:r>
              <a:rPr lang="en-IN" dirty="0"/>
              <a:t> 3,880 farm records from 8 Indian states, covering 8 major crops and 3 growing seasons (Kharif, Rabi, and Zaid). The study examines how profitability, yield, water usage, input consumption, and pest or disease risk change across different seasons. Using Python with Pandas, Matplotlib, and Seaborn, the analysis focuses on seasonal profitability, resource usage, crop-wise performance, environmental risk relationships, input-use patterns, water efficiency, feature correlations, state-wise comparisons, and yield-gap analysis. The project provides data-driven insights that can be useful for farmers, agribusinesses, and policymakers.</a:t>
            </a:r>
            <a:endParaRPr sz="1800"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r>
              <a:rPr lang="en-IN" b="1" dirty="0"/>
              <a:t>Farmers &amp; Agronomists</a:t>
            </a:r>
            <a:r>
              <a:rPr lang="en-IN" dirty="0"/>
              <a:t> – select suitable crops and seasons to achieve better yield and profitability</a:t>
            </a:r>
          </a:p>
          <a:p>
            <a:r>
              <a:rPr lang="en-IN" b="1" dirty="0"/>
              <a:t>Agricultural Policymakers &amp; Government Bodies</a:t>
            </a:r>
            <a:r>
              <a:rPr lang="en-IN" dirty="0"/>
              <a:t> – support planning for irrigation, subsidies, and efficient resource allocation</a:t>
            </a:r>
          </a:p>
          <a:p>
            <a:r>
              <a:rPr lang="en-IN" b="1" dirty="0"/>
              <a:t>Agribusinesses &amp; Agri-fintech Companies</a:t>
            </a:r>
            <a:r>
              <a:rPr lang="en-IN" dirty="0"/>
              <a:t> – evaluate crop and seasonal risks for insurance and lending decisions</a:t>
            </a:r>
          </a:p>
          <a:p>
            <a:r>
              <a:rPr lang="en-IN" b="1" dirty="0"/>
              <a:t>Researchers &amp; Agri-Tech Students</a:t>
            </a:r>
            <a:r>
              <a:rPr lang="en-IN" dirty="0"/>
              <a:t> – use the analysis as a reference for future data-driven agricultural studies</a:t>
            </a:r>
          </a:p>
          <a:p>
            <a:pPr algn="just">
              <a:lnSpc>
                <a:spcPct val="140000"/>
              </a:lnSpc>
            </a:pPr>
            <a:endParaRPr lang="en-US" sz="20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8684371" cy="2820263"/>
          </a:xfrm>
        </p:spPr>
        <p:txBody>
          <a:bodyPr/>
          <a:lstStyle/>
          <a:p>
            <a:r>
              <a:rPr lang="en-IN" sz="1800" b="1" dirty="0"/>
              <a:t>Python 3</a:t>
            </a:r>
            <a:endParaRPr lang="en-IN" sz="1800" dirty="0"/>
          </a:p>
          <a:p>
            <a:r>
              <a:rPr lang="en-IN" sz="1800" b="1" dirty="0"/>
              <a:t>Pandas &amp; NumPy</a:t>
            </a:r>
            <a:r>
              <a:rPr lang="en-IN" sz="1800" dirty="0"/>
              <a:t> – used for data cleaning and data aggregation</a:t>
            </a:r>
          </a:p>
          <a:p>
            <a:r>
              <a:rPr lang="en-IN" sz="1800" b="1" dirty="0"/>
              <a:t>Matplotlib &amp; Seaborn</a:t>
            </a:r>
            <a:r>
              <a:rPr lang="en-IN" sz="1800" dirty="0"/>
              <a:t> – used for creating data visualizations</a:t>
            </a:r>
          </a:p>
          <a:p>
            <a:r>
              <a:rPr lang="en-IN" sz="1800" b="1" dirty="0"/>
              <a:t>Jupyter Notebook / Google </a:t>
            </a:r>
            <a:r>
              <a:rPr lang="en-IN" sz="1800" b="1" dirty="0" err="1"/>
              <a:t>Colab</a:t>
            </a:r>
            <a:r>
              <a:rPr lang="en-IN" sz="1800" dirty="0"/>
              <a:t> – used as the development environment</a:t>
            </a:r>
          </a:p>
          <a:p>
            <a:r>
              <a:rPr lang="en-IN" sz="1800" b="1" dirty="0"/>
              <a:t>Structured CSV Dataset</a:t>
            </a:r>
            <a:r>
              <a:rPr lang="en-IN" sz="1800" dirty="0"/>
              <a:t> – contains 3,880 records with 28 features</a:t>
            </a:r>
          </a:p>
          <a:p>
            <a:pPr>
              <a:lnSpc>
                <a:spcPts val="2400"/>
              </a:lnSpc>
            </a:pPr>
            <a:endParaRPr lang="en-US" sz="1800"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4" name="Picture 23" descr="cell5_img.png"/>
          <p:cNvPicPr>
            <a:picLocks noChangeAspect="1"/>
          </p:cNvPicPr>
          <p:nvPr/>
        </p:nvPicPr>
        <p:blipFill>
          <a:blip r:embed="rId3"/>
          <a:stretch>
            <a:fillRect/>
          </a:stretch>
        </p:blipFill>
        <p:spPr>
          <a:xfrm>
            <a:off x="517191" y="1201586"/>
            <a:ext cx="4603782" cy="2470066"/>
          </a:xfrm>
          <a:prstGeom prst="rect">
            <a:avLst/>
          </a:prstGeom>
        </p:spPr>
      </p:pic>
      <p:pic>
        <p:nvPicPr>
          <p:cNvPr id="25" name="Picture 24" descr="cell6_img.png"/>
          <p:cNvPicPr>
            <a:picLocks noChangeAspect="1"/>
          </p:cNvPicPr>
          <p:nvPr/>
        </p:nvPicPr>
        <p:blipFill>
          <a:blip r:embed="rId4"/>
          <a:stretch>
            <a:fillRect/>
          </a:stretch>
        </p:blipFill>
        <p:spPr>
          <a:xfrm>
            <a:off x="5317182" y="1201586"/>
            <a:ext cx="4358092" cy="2458948"/>
          </a:xfrm>
          <a:prstGeom prst="rect">
            <a:avLst/>
          </a:prstGeom>
        </p:spPr>
      </p:pic>
      <p:pic>
        <p:nvPicPr>
          <p:cNvPr id="26" name="Picture 25" descr="cell7_img.png"/>
          <p:cNvPicPr>
            <a:picLocks noChangeAspect="1"/>
          </p:cNvPicPr>
          <p:nvPr/>
        </p:nvPicPr>
        <p:blipFill>
          <a:blip r:embed="rId5"/>
          <a:stretch>
            <a:fillRect/>
          </a:stretch>
        </p:blipFill>
        <p:spPr>
          <a:xfrm>
            <a:off x="675957" y="3972797"/>
            <a:ext cx="4344717" cy="2377203"/>
          </a:xfrm>
          <a:prstGeom prst="rect">
            <a:avLst/>
          </a:prstGeom>
        </p:spPr>
      </p:pic>
      <p:pic>
        <p:nvPicPr>
          <p:cNvPr id="27" name="Picture 26" descr="cell24_img.png"/>
          <p:cNvPicPr>
            <a:picLocks noChangeAspect="1"/>
          </p:cNvPicPr>
          <p:nvPr/>
        </p:nvPicPr>
        <p:blipFill>
          <a:blip r:embed="rId6"/>
          <a:stretch>
            <a:fillRect/>
          </a:stretch>
        </p:blipFill>
        <p:spPr>
          <a:xfrm>
            <a:off x="5541470" y="3746191"/>
            <a:ext cx="4033851" cy="2459885"/>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sz="1800" dirty="0"/>
              <a:t>Resource &amp; Input Usage</a:t>
            </a:r>
            <a:endParaRPr lang="en-IN" dirty="0"/>
          </a:p>
        </p:txBody>
      </p:sp>
      <p:pic>
        <p:nvPicPr>
          <p:cNvPr id="31" name="Picture 30" descr="cell9_img.png"/>
          <p:cNvPicPr>
            <a:picLocks noChangeAspect="1"/>
          </p:cNvPicPr>
          <p:nvPr/>
        </p:nvPicPr>
        <p:blipFill>
          <a:blip r:embed="rId3"/>
          <a:stretch>
            <a:fillRect/>
          </a:stretch>
        </p:blipFill>
        <p:spPr>
          <a:xfrm>
            <a:off x="675957" y="1941449"/>
            <a:ext cx="4901891" cy="3312038"/>
          </a:xfrm>
          <a:prstGeom prst="rect">
            <a:avLst/>
          </a:prstGeom>
        </p:spPr>
      </p:pic>
      <p:pic>
        <p:nvPicPr>
          <p:cNvPr id="32" name="Picture 31" descr="cell11_img.png"/>
          <p:cNvPicPr>
            <a:picLocks noChangeAspect="1"/>
          </p:cNvPicPr>
          <p:nvPr/>
        </p:nvPicPr>
        <p:blipFill>
          <a:blip r:embed="rId4"/>
          <a:stretch>
            <a:fillRect/>
          </a:stretch>
        </p:blipFill>
        <p:spPr>
          <a:xfrm>
            <a:off x="6017474" y="1941449"/>
            <a:ext cx="5640811" cy="3054355"/>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sz="1800" dirty="0"/>
              <a:t>Crop-Specific Performance</a:t>
            </a:r>
            <a:endParaRPr lang="en-IN" dirty="0"/>
          </a:p>
        </p:txBody>
      </p:sp>
      <p:pic>
        <p:nvPicPr>
          <p:cNvPr id="31" name="Picture 30" descr="cell13_img.png"/>
          <p:cNvPicPr>
            <a:picLocks noChangeAspect="1"/>
          </p:cNvPicPr>
          <p:nvPr/>
        </p:nvPicPr>
        <p:blipFill>
          <a:blip r:embed="rId3"/>
          <a:stretch>
            <a:fillRect/>
          </a:stretch>
        </p:blipFill>
        <p:spPr>
          <a:xfrm>
            <a:off x="346965" y="2097771"/>
            <a:ext cx="5670509" cy="3856930"/>
          </a:xfrm>
          <a:prstGeom prst="rect">
            <a:avLst/>
          </a:prstGeom>
        </p:spPr>
      </p:pic>
      <p:pic>
        <p:nvPicPr>
          <p:cNvPr id="32" name="Picture 31" descr="cell26_img.png"/>
          <p:cNvPicPr>
            <a:picLocks noChangeAspect="1"/>
          </p:cNvPicPr>
          <p:nvPr/>
        </p:nvPicPr>
        <p:blipFill>
          <a:blip r:embed="rId4"/>
          <a:stretch>
            <a:fillRect/>
          </a:stretch>
        </p:blipFill>
        <p:spPr>
          <a:xfrm>
            <a:off x="6221491" y="2104846"/>
            <a:ext cx="5670509" cy="365452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sz="1800" dirty="0"/>
              <a:t>Environmental &amp; Disease Risk</a:t>
            </a:r>
            <a:endParaRPr lang="en-IN" dirty="0"/>
          </a:p>
        </p:txBody>
      </p:sp>
      <p:pic>
        <p:nvPicPr>
          <p:cNvPr id="31" name="Picture 30" descr="cell15_img.png"/>
          <p:cNvPicPr>
            <a:picLocks noChangeAspect="1"/>
          </p:cNvPicPr>
          <p:nvPr/>
        </p:nvPicPr>
        <p:blipFill>
          <a:blip r:embed="rId3"/>
          <a:stretch>
            <a:fillRect/>
          </a:stretch>
        </p:blipFill>
        <p:spPr>
          <a:xfrm>
            <a:off x="420099" y="2020000"/>
            <a:ext cx="5430310" cy="4330000"/>
          </a:xfrm>
          <a:prstGeom prst="rect">
            <a:avLst/>
          </a:prstGeom>
        </p:spPr>
      </p:pic>
      <p:pic>
        <p:nvPicPr>
          <p:cNvPr id="32" name="Picture 31" descr="cell17_img.png"/>
          <p:cNvPicPr>
            <a:picLocks noChangeAspect="1"/>
          </p:cNvPicPr>
          <p:nvPr/>
        </p:nvPicPr>
        <p:blipFill>
          <a:blip r:embed="rId4"/>
          <a:stretch>
            <a:fillRect/>
          </a:stretch>
        </p:blipFill>
        <p:spPr>
          <a:xfrm>
            <a:off x="6220509" y="2491882"/>
            <a:ext cx="5670509" cy="3386235"/>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sz="1800" dirty="0"/>
              <a:t>Correlation &amp; State Analysis</a:t>
            </a:r>
            <a:endParaRPr lang="en-IN" dirty="0"/>
          </a:p>
        </p:txBody>
      </p:sp>
      <p:pic>
        <p:nvPicPr>
          <p:cNvPr id="31" name="Picture 30" descr="cell19_img.png"/>
          <p:cNvPicPr>
            <a:picLocks noChangeAspect="1"/>
          </p:cNvPicPr>
          <p:nvPr/>
        </p:nvPicPr>
        <p:blipFill>
          <a:blip r:embed="rId3"/>
          <a:stretch>
            <a:fillRect/>
          </a:stretch>
        </p:blipFill>
        <p:spPr>
          <a:xfrm>
            <a:off x="299999" y="2065534"/>
            <a:ext cx="4275138" cy="3983317"/>
          </a:xfrm>
          <a:prstGeom prst="rect">
            <a:avLst/>
          </a:prstGeom>
        </p:spPr>
      </p:pic>
      <p:pic>
        <p:nvPicPr>
          <p:cNvPr id="32" name="Picture 31" descr="cell21_img.png"/>
          <p:cNvPicPr>
            <a:picLocks noChangeAspect="1"/>
          </p:cNvPicPr>
          <p:nvPr/>
        </p:nvPicPr>
        <p:blipFill>
          <a:blip r:embed="rId4"/>
          <a:stretch>
            <a:fillRect/>
          </a:stretch>
        </p:blipFill>
        <p:spPr>
          <a:xfrm>
            <a:off x="4830452" y="513430"/>
            <a:ext cx="4870663" cy="2419551"/>
          </a:xfrm>
          <a:prstGeom prst="rect">
            <a:avLst/>
          </a:prstGeom>
        </p:spPr>
      </p:pic>
      <p:pic>
        <p:nvPicPr>
          <p:cNvPr id="33" name="Picture 32" descr="cell22_img.png"/>
          <p:cNvPicPr>
            <a:picLocks noChangeAspect="1"/>
          </p:cNvPicPr>
          <p:nvPr/>
        </p:nvPicPr>
        <p:blipFill>
          <a:blip r:embed="rId5"/>
          <a:stretch>
            <a:fillRect/>
          </a:stretch>
        </p:blipFill>
        <p:spPr>
          <a:xfrm>
            <a:off x="4907347" y="3220052"/>
            <a:ext cx="4870663" cy="2419551"/>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TextBox 23"/>
          <p:cNvSpPr txBox="1"/>
          <p:nvPr/>
        </p:nvSpPr>
        <p:spPr>
          <a:xfrm>
            <a:off x="622978" y="1201586"/>
            <a:ext cx="7904481" cy="3517566"/>
          </a:xfrm>
          <a:prstGeom prst="rect">
            <a:avLst/>
          </a:prstGeom>
          <a:noFill/>
        </p:spPr>
        <p:txBody>
          <a:bodyPr wrap="square">
            <a:spAutoFit/>
          </a:bodyPr>
          <a:lstStyle/>
          <a:p>
            <a:r>
              <a:rPr lang="en-IN" sz="2000" dirty="0"/>
              <a:t>• Integrate real-time weather and market-price APIs to support live seasonal forecasting</a:t>
            </a:r>
          </a:p>
          <a:p>
            <a:r>
              <a:rPr lang="en-IN" sz="2000" dirty="0"/>
              <a:t>• Develop a machine-learning model that can recommend the most suitable crop and season for a specific farm</a:t>
            </a:r>
          </a:p>
          <a:p>
            <a:r>
              <a:rPr lang="en-IN" sz="2000" dirty="0"/>
              <a:t>• Expand the analysis to cover more states and multi-year data for long-term trend prediction</a:t>
            </a:r>
          </a:p>
          <a:p>
            <a:r>
              <a:rPr lang="en-IN" sz="2000" dirty="0"/>
              <a:t>• Create an interactive dashboard using Power BI or </a:t>
            </a:r>
            <a:r>
              <a:rPr lang="en-IN" sz="2000" dirty="0" err="1"/>
              <a:t>Streamlit</a:t>
            </a:r>
            <a:r>
              <a:rPr lang="en-IN" sz="2000" dirty="0"/>
              <a:t> for farmers and policymakers</a:t>
            </a:r>
          </a:p>
          <a:p>
            <a:r>
              <a:rPr lang="en-IN" sz="2000"/>
              <a:t>• Add soil-health and satellite-imagery data to gain deeper insights into environmental conditions</a:t>
            </a:r>
          </a:p>
          <a:p>
            <a:pPr>
              <a:lnSpc>
                <a:spcPts val="3000"/>
              </a:lnSpc>
            </a:pPr>
            <a:endParaRPr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7" y="1440320"/>
            <a:ext cx="5499016" cy="646331"/>
          </a:xfrm>
          <a:prstGeom prst="rect">
            <a:avLst/>
          </a:prstGeom>
          <a:noFill/>
        </p:spPr>
        <p:txBody>
          <a:bodyPr wrap="square">
            <a:spAutoFit/>
          </a:bodyPr>
          <a:lstStyle/>
          <a:p>
            <a:r>
              <a:rPr lang="en-US" dirty="0">
                <a:hlinkClick r:id="rId3"/>
              </a:rPr>
              <a:t>https://github.com/amantabb79015-sketch/-data-analytics</a:t>
            </a:r>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6020105F-2D4D-8513-DA0C-0C0FDFC008EE}"/>
              </a:ext>
            </a:extLst>
          </p:cNvPr>
          <p:cNvPicPr>
            <a:picLocks noChangeAspect="1"/>
          </p:cNvPicPr>
          <p:nvPr/>
        </p:nvPicPr>
        <p:blipFill>
          <a:blip r:embed="rId3"/>
          <a:srcRect/>
          <a:stretch/>
        </p:blipFill>
        <p:spPr>
          <a:xfrm>
            <a:off x="1189667" y="1485153"/>
            <a:ext cx="7323967" cy="5179807"/>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70673" y="757383"/>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1991602" y="1941075"/>
            <a:ext cx="7557840" cy="1108635"/>
          </a:xfrm>
        </p:spPr>
        <p:txBody>
          <a:bodyPr>
            <a:normAutofit/>
          </a:bodyPr>
          <a:lstStyle/>
          <a:p>
            <a:r>
              <a:rPr lang="en-IN" dirty="0"/>
              <a:t>Thank you. I'm happy to answer any questions about the project.</a:t>
            </a: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purl.org/dc/dcmitype/"/>
    <ds:schemaRef ds:uri="http://purl.org/dc/terms/"/>
    <ds:schemaRef ds:uri="http://purl.org/dc/elements/1.1/"/>
    <ds:schemaRef ds:uri="http://schemas.microsoft.com/office/2006/documentManagement/types"/>
    <ds:schemaRef ds:uri="http://schemas.microsoft.com/office/2006/metadata/properties"/>
    <ds:schemaRef ds:uri="71af3243-3dd4-4a8d-8c0d-dd76da1f02a5"/>
    <ds:schemaRef ds:uri="http://schemas.microsoft.com/office/infopath/2007/PartnerControls"/>
    <ds:schemaRef ds:uri="http://schemas.openxmlformats.org/package/2006/metadata/core-properties"/>
    <ds:schemaRef ds:uri="16c05727-aa75-4e4a-9b5f-8a80a1165891"/>
    <ds:schemaRef ds:uri="http://www.w3.org/XML/1998/namespace"/>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1448</TotalTime>
  <Words>469</Words>
  <Application>Microsoft Office PowerPoint</Application>
  <PresentationFormat>Widescreen</PresentationFormat>
  <Paragraphs>41</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Seasonal Agriculture Performance Analysis</vt:lpstr>
      <vt:lpstr>PROBLEM  STATEMENT</vt:lpstr>
      <vt:lpstr>Project Description</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amantab666@gmail.com</cp:lastModifiedBy>
  <cp:revision>110</cp:revision>
  <dcterms:created xsi:type="dcterms:W3CDTF">2021-07-11T13:13:15Z</dcterms:created>
  <dcterms:modified xsi:type="dcterms:W3CDTF">2026-09-14T15:35:53Z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